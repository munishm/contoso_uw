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012" y="2669539"/>
            <a:ext cx="2456815" cy="556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rgbClr val="DA00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DA00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Arial"/>
                <a:cs typeface="Arial"/>
              </a:defRPr>
            </a:lvl1pPr>
          </a:lstStyle>
          <a:p>
            <a:pPr marL="147955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DA00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DA00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Arial"/>
                <a:cs typeface="Arial"/>
              </a:defRPr>
            </a:lvl1pPr>
          </a:lstStyle>
          <a:p>
            <a:pPr marL="147955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DA00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Arial"/>
                <a:cs typeface="Arial"/>
              </a:defRPr>
            </a:lvl1pPr>
          </a:lstStyle>
          <a:p>
            <a:pPr marL="147955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DA00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Arial"/>
                <a:cs typeface="Arial"/>
              </a:defRPr>
            </a:lvl1pPr>
          </a:lstStyle>
          <a:p>
            <a:pPr marL="147955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Arial"/>
                <a:cs typeface="Arial"/>
              </a:defRPr>
            </a:lvl1pPr>
          </a:lstStyle>
          <a:p>
            <a:pPr marL="147955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726440"/>
            <a:ext cx="9504045" cy="556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rgbClr val="DA00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374" y="1943099"/>
            <a:ext cx="8715375" cy="3795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DA00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630768" y="6343079"/>
            <a:ext cx="326667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777777"/>
                </a:solidFill>
                <a:latin typeface="Arial"/>
                <a:cs typeface="Arial"/>
              </a:defRPr>
            </a:lvl1pPr>
          </a:lstStyle>
          <a:p>
            <a:pPr marL="147955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9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2164714"/>
            <a:ext cx="803148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FFFFFF"/>
                </a:solidFill>
              </a:rPr>
              <a:t>HSBC</a:t>
            </a:r>
            <a:r>
              <a:rPr dirty="0" spc="7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Document</a:t>
            </a:r>
            <a:r>
              <a:rPr dirty="0" spc="9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Intelligence</a:t>
            </a:r>
            <a:r>
              <a:rPr dirty="0" spc="8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7955">
              <a:lnSpc>
                <a:spcPts val="209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735012" y="3040443"/>
            <a:ext cx="9084945" cy="1580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Next-Generation</a:t>
            </a:r>
            <a:r>
              <a:rPr dirty="0" sz="2800" spc="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Document</a:t>
            </a:r>
            <a:r>
              <a:rPr dirty="0" sz="280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Processing</a:t>
            </a:r>
            <a:r>
              <a:rPr dirty="0" sz="280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800" spc="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Arial"/>
                <a:cs typeface="Arial"/>
              </a:rPr>
              <a:t>Insurance Underwriting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65"/>
              </a:spcBef>
            </a:pPr>
            <a:r>
              <a:rPr dirty="0" sz="2150" b="1">
                <a:solidFill>
                  <a:srgbClr val="FFFFFF"/>
                </a:solidFill>
                <a:latin typeface="Arial"/>
                <a:cs typeface="Arial"/>
              </a:rPr>
              <a:t>Technical</a:t>
            </a:r>
            <a:r>
              <a:rPr dirty="0" sz="215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FFFFFF"/>
                </a:solidFill>
                <a:latin typeface="Arial"/>
                <a:cs typeface="Arial"/>
              </a:rPr>
              <a:t>Deep</a:t>
            </a:r>
            <a:r>
              <a:rPr dirty="0" sz="215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20" b="1">
                <a:solidFill>
                  <a:srgbClr val="FFFFFF"/>
                </a:solidFill>
                <a:latin typeface="Arial"/>
                <a:cs typeface="Arial"/>
              </a:rPr>
              <a:t>Dive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7955">
              <a:lnSpc>
                <a:spcPts val="209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088389"/>
            <a:ext cx="164655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0281" y="1814195"/>
            <a:ext cx="5684520" cy="3883025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319405" indent="-306705">
              <a:lnSpc>
                <a:spcPct val="100000"/>
              </a:lnSpc>
              <a:spcBef>
                <a:spcPts val="1265"/>
              </a:spcBef>
              <a:buFont typeface="Arial"/>
              <a:buAutoNum type="arabicPeriod"/>
              <a:tabLst>
                <a:tab pos="319405" algn="l"/>
              </a:tabLst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Current</a:t>
            </a:r>
            <a:r>
              <a:rPr dirty="0" sz="2150" spc="5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State</a:t>
            </a:r>
            <a:r>
              <a:rPr dirty="0" sz="2150" spc="6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vs.</a:t>
            </a:r>
            <a:r>
              <a:rPr dirty="0" sz="2150" spc="6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Platform</a:t>
            </a:r>
            <a:r>
              <a:rPr dirty="0" sz="2150" spc="6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F2328"/>
                </a:solidFill>
                <a:latin typeface="Arial"/>
                <a:cs typeface="Arial"/>
              </a:rPr>
              <a:t>Capabilities</a:t>
            </a:r>
            <a:endParaRPr sz="2150">
              <a:latin typeface="Arial"/>
              <a:cs typeface="Arial"/>
            </a:endParaRPr>
          </a:p>
          <a:p>
            <a:pPr marL="319405" indent="-306705">
              <a:lnSpc>
                <a:spcPct val="100000"/>
              </a:lnSpc>
              <a:spcBef>
                <a:spcPts val="1170"/>
              </a:spcBef>
              <a:buFont typeface="Arial"/>
              <a:buAutoNum type="arabicPeriod"/>
              <a:tabLst>
                <a:tab pos="319405" algn="l"/>
              </a:tabLst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Self-Service</a:t>
            </a:r>
            <a:r>
              <a:rPr dirty="0" sz="2150" spc="-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Document Type</a:t>
            </a:r>
            <a:r>
              <a:rPr dirty="0" sz="2150" spc="-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F2328"/>
                </a:solidFill>
                <a:latin typeface="Arial"/>
                <a:cs typeface="Arial"/>
              </a:rPr>
              <a:t>Onboarding</a:t>
            </a:r>
            <a:endParaRPr sz="2150">
              <a:latin typeface="Arial"/>
              <a:cs typeface="Arial"/>
            </a:endParaRPr>
          </a:p>
          <a:p>
            <a:pPr marL="319405" indent="-306705">
              <a:lnSpc>
                <a:spcPct val="100000"/>
              </a:lnSpc>
              <a:spcBef>
                <a:spcPts val="1245"/>
              </a:spcBef>
              <a:buFont typeface="Arial"/>
              <a:buAutoNum type="arabicPeriod"/>
              <a:tabLst>
                <a:tab pos="319405" algn="l"/>
              </a:tabLst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AI-Powered</a:t>
            </a:r>
            <a:r>
              <a:rPr dirty="0" sz="2150" spc="12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Evaluation</a:t>
            </a:r>
            <a:r>
              <a:rPr dirty="0" sz="2150" spc="114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F2328"/>
                </a:solidFill>
                <a:latin typeface="Arial"/>
                <a:cs typeface="Arial"/>
              </a:rPr>
              <a:t>Framework</a:t>
            </a:r>
            <a:endParaRPr sz="2150">
              <a:latin typeface="Arial"/>
              <a:cs typeface="Arial"/>
            </a:endParaRPr>
          </a:p>
          <a:p>
            <a:pPr marL="319405" indent="-306705">
              <a:lnSpc>
                <a:spcPct val="100000"/>
              </a:lnSpc>
              <a:spcBef>
                <a:spcPts val="1245"/>
              </a:spcBef>
              <a:buFont typeface="Arial"/>
              <a:buAutoNum type="arabicPeriod"/>
              <a:tabLst>
                <a:tab pos="319405" algn="l"/>
              </a:tabLst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Pluggable</a:t>
            </a:r>
            <a:r>
              <a:rPr dirty="0" sz="2150" spc="2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F2328"/>
                </a:solidFill>
                <a:latin typeface="Arial"/>
                <a:cs typeface="Arial"/>
              </a:rPr>
              <a:t>Architecture</a:t>
            </a:r>
            <a:endParaRPr sz="2150">
              <a:latin typeface="Arial"/>
              <a:cs typeface="Arial"/>
            </a:endParaRPr>
          </a:p>
          <a:p>
            <a:pPr marL="319405" indent="-306705">
              <a:lnSpc>
                <a:spcPct val="100000"/>
              </a:lnSpc>
              <a:spcBef>
                <a:spcPts val="1245"/>
              </a:spcBef>
              <a:buFont typeface="Arial"/>
              <a:buAutoNum type="arabicPeriod"/>
              <a:tabLst>
                <a:tab pos="319405" algn="l"/>
              </a:tabLst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Human-in-the-Loop</a:t>
            </a:r>
            <a:r>
              <a:rPr dirty="0" sz="2150" spc="19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F2328"/>
                </a:solidFill>
                <a:latin typeface="Arial"/>
                <a:cs typeface="Arial"/>
              </a:rPr>
              <a:t>Workflows</a:t>
            </a:r>
            <a:endParaRPr sz="2150">
              <a:latin typeface="Arial"/>
              <a:cs typeface="Arial"/>
            </a:endParaRPr>
          </a:p>
          <a:p>
            <a:pPr marL="319405" indent="-306705">
              <a:lnSpc>
                <a:spcPct val="100000"/>
              </a:lnSpc>
              <a:spcBef>
                <a:spcPts val="1170"/>
              </a:spcBef>
              <a:buFont typeface="Arial"/>
              <a:buAutoNum type="arabicPeriod"/>
              <a:tabLst>
                <a:tab pos="319405" algn="l"/>
              </a:tabLst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Extensible</a:t>
            </a:r>
            <a:r>
              <a:rPr dirty="0" sz="2150" spc="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F2328"/>
                </a:solidFill>
                <a:latin typeface="Arial"/>
                <a:cs typeface="Arial"/>
              </a:rPr>
              <a:t>Orchestration</a:t>
            </a:r>
            <a:endParaRPr sz="2150">
              <a:latin typeface="Arial"/>
              <a:cs typeface="Arial"/>
            </a:endParaRPr>
          </a:p>
          <a:p>
            <a:pPr marL="319405" indent="-306705">
              <a:lnSpc>
                <a:spcPct val="100000"/>
              </a:lnSpc>
              <a:spcBef>
                <a:spcPts val="1245"/>
              </a:spcBef>
              <a:buFont typeface="Arial"/>
              <a:buAutoNum type="arabicPeriod"/>
              <a:tabLst>
                <a:tab pos="319405" algn="l"/>
              </a:tabLst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Live</a:t>
            </a:r>
            <a:r>
              <a:rPr dirty="0" sz="2150" spc="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20" b="1">
                <a:solidFill>
                  <a:srgbClr val="1F2328"/>
                </a:solidFill>
                <a:latin typeface="Arial"/>
                <a:cs typeface="Arial"/>
              </a:rPr>
              <a:t>Demo</a:t>
            </a:r>
            <a:endParaRPr sz="2150">
              <a:latin typeface="Arial"/>
              <a:cs typeface="Arial"/>
            </a:endParaRPr>
          </a:p>
          <a:p>
            <a:pPr marL="319405" indent="-306705">
              <a:lnSpc>
                <a:spcPct val="100000"/>
              </a:lnSpc>
              <a:spcBef>
                <a:spcPts val="1245"/>
              </a:spcBef>
              <a:buFont typeface="Arial"/>
              <a:buAutoNum type="arabicPeriod"/>
              <a:tabLst>
                <a:tab pos="319405" algn="l"/>
              </a:tabLst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Future</a:t>
            </a:r>
            <a:r>
              <a:rPr dirty="0" sz="2150" spc="7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F2328"/>
                </a:solidFill>
                <a:latin typeface="Arial"/>
                <a:cs typeface="Arial"/>
              </a:rPr>
              <a:t>Extensibility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52474" y="1943099"/>
          <a:ext cx="10372725" cy="3795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3175"/>
                <a:gridCol w="2686050"/>
                <a:gridCol w="5057775"/>
              </a:tblGrid>
              <a:tr h="475615">
                <a:tc>
                  <a:txBody>
                    <a:bodyPr/>
                    <a:lstStyle/>
                    <a:p>
                      <a:pPr marL="7086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Capability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055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850" spc="-35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Pilot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850" spc="-5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Platform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660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Document</a:t>
                      </a:r>
                      <a:r>
                        <a:rPr dirty="0" sz="1850" spc="-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Extraction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82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OCR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GPT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91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OCR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GPT</a:t>
                      </a:r>
                      <a:r>
                        <a:rPr dirty="0" sz="1850" spc="-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(Multiple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Models)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Output</a:t>
                      </a:r>
                      <a:r>
                        <a:rPr dirty="0" sz="1850" spc="-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Format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JSON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Key-Value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JSON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Citations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Confidence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Evaluation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82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Limited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AI-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Powered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(Correctness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Completeness)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Document</a:t>
                      </a:r>
                      <a:r>
                        <a:rPr dirty="0" sz="1850" spc="-5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Types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46482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Developer</a:t>
                      </a:r>
                      <a:r>
                        <a:rPr dirty="0" sz="1850" spc="-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4591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Self-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Onboarding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Quality</a:t>
                      </a:r>
                      <a:r>
                        <a:rPr dirty="0" sz="1850" spc="-1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Assurance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82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Manual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Review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Automated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Scoring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Architecture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Monolithic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Pluggable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Components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Workflow</a:t>
                      </a:r>
                      <a:r>
                        <a:rPr dirty="0" sz="1850" spc="-8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Extensibility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Limited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Full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Orchestration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Engine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1078864"/>
            <a:ext cx="535495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Current</a:t>
            </a:r>
            <a:r>
              <a:rPr dirty="0" spc="30"/>
              <a:t> </a:t>
            </a:r>
            <a:r>
              <a:rPr dirty="0"/>
              <a:t>Pilot</a:t>
            </a:r>
            <a:r>
              <a:rPr dirty="0" spc="45"/>
              <a:t> </a:t>
            </a:r>
            <a:r>
              <a:rPr dirty="0"/>
              <a:t>vs.</a:t>
            </a:r>
            <a:r>
              <a:rPr dirty="0" spc="40"/>
              <a:t> </a:t>
            </a:r>
            <a:r>
              <a:rPr dirty="0" spc="-10"/>
              <a:t>Platform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7575" y="2514599"/>
            <a:ext cx="228600" cy="2381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4099" y="2514599"/>
            <a:ext cx="238125" cy="2381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60828" y="3472032"/>
            <a:ext cx="222092" cy="2265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4099" y="3467100"/>
            <a:ext cx="238125" cy="2381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66898" y="3953273"/>
            <a:ext cx="209758" cy="2184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4099" y="3943350"/>
            <a:ext cx="238125" cy="2381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66898" y="4429523"/>
            <a:ext cx="209758" cy="21849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4099" y="4419600"/>
            <a:ext cx="238125" cy="238125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7955">
              <a:lnSpc>
                <a:spcPts val="209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371724"/>
            <a:ext cx="10696575" cy="3295650"/>
            <a:chOff x="752474" y="2371724"/>
            <a:chExt cx="10696575" cy="3295650"/>
          </a:xfrm>
        </p:grpSpPr>
        <p:sp>
          <p:nvSpPr>
            <p:cNvPr id="3" name="object 3"/>
            <p:cNvSpPr/>
            <p:nvPr/>
          </p:nvSpPr>
          <p:spPr>
            <a:xfrm>
              <a:off x="757237" y="2376487"/>
              <a:ext cx="10687050" cy="3286125"/>
            </a:xfrm>
            <a:custGeom>
              <a:avLst/>
              <a:gdLst/>
              <a:ahLst/>
              <a:cxnLst/>
              <a:rect l="l" t="t" r="r" b="b"/>
              <a:pathLst>
                <a:path w="10687050" h="3286125">
                  <a:moveTo>
                    <a:pt x="10638100" y="3286124"/>
                  </a:moveTo>
                  <a:lnTo>
                    <a:pt x="48947" y="3286124"/>
                  </a:lnTo>
                  <a:lnTo>
                    <a:pt x="45540" y="3285788"/>
                  </a:lnTo>
                  <a:lnTo>
                    <a:pt x="10739" y="3265701"/>
                  </a:lnTo>
                  <a:lnTo>
                    <a:pt x="0" y="3237176"/>
                  </a:lnTo>
                  <a:lnTo>
                    <a:pt x="0" y="32337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3237176"/>
                  </a:lnTo>
                  <a:lnTo>
                    <a:pt x="10669272" y="3273212"/>
                  </a:lnTo>
                  <a:lnTo>
                    <a:pt x="10641507" y="3285788"/>
                  </a:lnTo>
                  <a:lnTo>
                    <a:pt x="10638100" y="32861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57237" y="2376487"/>
              <a:ext cx="10687050" cy="3286125"/>
            </a:xfrm>
            <a:custGeom>
              <a:avLst/>
              <a:gdLst/>
              <a:ahLst/>
              <a:cxnLst/>
              <a:rect l="l" t="t" r="r" b="b"/>
              <a:pathLst>
                <a:path w="10687050" h="3286125">
                  <a:moveTo>
                    <a:pt x="0" y="32337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3233737"/>
                  </a:lnTo>
                  <a:lnTo>
                    <a:pt x="10687049" y="3237176"/>
                  </a:lnTo>
                  <a:lnTo>
                    <a:pt x="10686713" y="3240583"/>
                  </a:lnTo>
                  <a:lnTo>
                    <a:pt x="10666625" y="3275384"/>
                  </a:lnTo>
                  <a:lnTo>
                    <a:pt x="10634661" y="3286124"/>
                  </a:lnTo>
                  <a:lnTo>
                    <a:pt x="52387" y="3286124"/>
                  </a:lnTo>
                  <a:lnTo>
                    <a:pt x="23282" y="3277295"/>
                  </a:lnTo>
                  <a:lnTo>
                    <a:pt x="20422" y="3275384"/>
                  </a:lnTo>
                  <a:lnTo>
                    <a:pt x="17776" y="3273212"/>
                  </a:lnTo>
                  <a:lnTo>
                    <a:pt x="15343" y="3270780"/>
                  </a:lnTo>
                  <a:lnTo>
                    <a:pt x="12911" y="3268347"/>
                  </a:lnTo>
                  <a:lnTo>
                    <a:pt x="10739" y="3265701"/>
                  </a:lnTo>
                  <a:lnTo>
                    <a:pt x="8828" y="3262841"/>
                  </a:lnTo>
                  <a:lnTo>
                    <a:pt x="6917" y="3259981"/>
                  </a:lnTo>
                  <a:lnTo>
                    <a:pt x="1006" y="3243956"/>
                  </a:lnTo>
                  <a:lnTo>
                    <a:pt x="335" y="3240583"/>
                  </a:lnTo>
                  <a:lnTo>
                    <a:pt x="0" y="3237176"/>
                  </a:lnTo>
                  <a:lnTo>
                    <a:pt x="0" y="323373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dirty="0" spc="50"/>
              <a:t> </a:t>
            </a:r>
            <a:r>
              <a:rPr dirty="0"/>
              <a:t>Challenge:</a:t>
            </a:r>
            <a:r>
              <a:rPr dirty="0" spc="-80"/>
              <a:t> </a:t>
            </a:r>
            <a:r>
              <a:rPr dirty="0"/>
              <a:t>Adding</a:t>
            </a:r>
            <a:r>
              <a:rPr dirty="0" spc="60"/>
              <a:t> </a:t>
            </a:r>
            <a:r>
              <a:rPr dirty="0"/>
              <a:t>New</a:t>
            </a:r>
            <a:r>
              <a:rPr dirty="0" spc="60"/>
              <a:t> </a:t>
            </a:r>
            <a:r>
              <a:rPr dirty="0"/>
              <a:t>Document</a:t>
            </a:r>
            <a:r>
              <a:rPr dirty="0" spc="60"/>
              <a:t> </a:t>
            </a:r>
            <a:r>
              <a:rPr dirty="0" spc="-10"/>
              <a:t>Types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7955">
              <a:lnSpc>
                <a:spcPts val="209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735012" y="1628457"/>
            <a:ext cx="2820035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Current</a:t>
            </a:r>
            <a:r>
              <a:rPr dirty="0" sz="2800" spc="2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Process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5012" y="2495708"/>
            <a:ext cx="5846445" cy="368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9070">
              <a:lnSpc>
                <a:spcPts val="2160"/>
              </a:lnSpc>
              <a:spcBef>
                <a:spcPts val="95"/>
              </a:spcBef>
            </a:pP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New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Document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Type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Menlo"/>
                <a:cs typeface="Menlo"/>
              </a:rPr>
              <a:t>Request</a:t>
            </a:r>
            <a:endParaRPr sz="1850">
              <a:latin typeface="Menlo"/>
              <a:cs typeface="Menlo"/>
            </a:endParaRPr>
          </a:p>
          <a:p>
            <a:pPr marL="1310005">
              <a:lnSpc>
                <a:spcPts val="2140"/>
              </a:lnSpc>
            </a:pPr>
            <a:r>
              <a:rPr dirty="0" sz="1850" spc="-50">
                <a:solidFill>
                  <a:srgbClr val="1F2328"/>
                </a:solidFill>
                <a:latin typeface="Menlo"/>
                <a:cs typeface="Menlo"/>
              </a:rPr>
              <a:t>↓</a:t>
            </a:r>
            <a:endParaRPr sz="1850">
              <a:latin typeface="Menlo"/>
              <a:cs typeface="Menlo"/>
            </a:endParaRPr>
          </a:p>
          <a:p>
            <a:pPr marL="179070">
              <a:lnSpc>
                <a:spcPts val="2140"/>
              </a:lnSpc>
            </a:pP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Developer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writes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custom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extraction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Menlo"/>
                <a:cs typeface="Menlo"/>
              </a:rPr>
              <a:t>logic</a:t>
            </a:r>
            <a:endParaRPr sz="1850">
              <a:latin typeface="Menlo"/>
              <a:cs typeface="Menlo"/>
            </a:endParaRPr>
          </a:p>
          <a:p>
            <a:pPr marL="1310005">
              <a:lnSpc>
                <a:spcPts val="2100"/>
              </a:lnSpc>
            </a:pPr>
            <a:r>
              <a:rPr dirty="0" sz="1850" spc="-50">
                <a:solidFill>
                  <a:srgbClr val="1F2328"/>
                </a:solidFill>
                <a:latin typeface="Menlo"/>
                <a:cs typeface="Menlo"/>
              </a:rPr>
              <a:t>↓</a:t>
            </a:r>
            <a:endParaRPr sz="1850">
              <a:latin typeface="Menlo"/>
              <a:cs typeface="Menlo"/>
            </a:endParaRPr>
          </a:p>
          <a:p>
            <a:pPr marL="179070">
              <a:lnSpc>
                <a:spcPts val="2135"/>
              </a:lnSpc>
            </a:pP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Manual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testing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with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sample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Menlo"/>
                <a:cs typeface="Menlo"/>
              </a:rPr>
              <a:t>documents</a:t>
            </a:r>
            <a:endParaRPr sz="1850">
              <a:latin typeface="Menlo"/>
              <a:cs typeface="Menlo"/>
            </a:endParaRPr>
          </a:p>
          <a:p>
            <a:pPr marL="1310005">
              <a:lnSpc>
                <a:spcPts val="2140"/>
              </a:lnSpc>
            </a:pPr>
            <a:r>
              <a:rPr dirty="0" sz="1850" spc="-50">
                <a:solidFill>
                  <a:srgbClr val="1F2328"/>
                </a:solidFill>
                <a:latin typeface="Menlo"/>
                <a:cs typeface="Menlo"/>
              </a:rPr>
              <a:t>↓</a:t>
            </a:r>
            <a:endParaRPr sz="1850">
              <a:latin typeface="Menlo"/>
              <a:cs typeface="Menlo"/>
            </a:endParaRPr>
          </a:p>
          <a:p>
            <a:pPr marL="179070">
              <a:lnSpc>
                <a:spcPts val="2100"/>
              </a:lnSpc>
            </a:pP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No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way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to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measure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Menlo"/>
                <a:cs typeface="Menlo"/>
              </a:rPr>
              <a:t>accuracy</a:t>
            </a:r>
            <a:endParaRPr sz="1850">
              <a:latin typeface="Menlo"/>
              <a:cs typeface="Menlo"/>
            </a:endParaRPr>
          </a:p>
          <a:p>
            <a:pPr marL="1310005">
              <a:lnSpc>
                <a:spcPts val="2140"/>
              </a:lnSpc>
            </a:pPr>
            <a:r>
              <a:rPr dirty="0" sz="1850" spc="-50">
                <a:solidFill>
                  <a:srgbClr val="1F2328"/>
                </a:solidFill>
                <a:latin typeface="Menlo"/>
                <a:cs typeface="Menlo"/>
              </a:rPr>
              <a:t>↓</a:t>
            </a:r>
            <a:endParaRPr sz="1850">
              <a:latin typeface="Menlo"/>
              <a:cs typeface="Menlo"/>
            </a:endParaRPr>
          </a:p>
          <a:p>
            <a:pPr marL="179070">
              <a:lnSpc>
                <a:spcPts val="2140"/>
              </a:lnSpc>
            </a:pP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Deploy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and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hope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it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 spc="-20">
                <a:solidFill>
                  <a:srgbClr val="1F2328"/>
                </a:solidFill>
                <a:latin typeface="Menlo"/>
                <a:cs typeface="Menlo"/>
              </a:rPr>
              <a:t>works</a:t>
            </a:r>
            <a:endParaRPr sz="1850">
              <a:latin typeface="Menlo"/>
              <a:cs typeface="Menlo"/>
            </a:endParaRPr>
          </a:p>
          <a:p>
            <a:pPr marL="1310005">
              <a:lnSpc>
                <a:spcPts val="2100"/>
              </a:lnSpc>
            </a:pPr>
            <a:r>
              <a:rPr dirty="0" sz="1850" spc="-50">
                <a:solidFill>
                  <a:srgbClr val="1F2328"/>
                </a:solidFill>
                <a:latin typeface="Menlo"/>
                <a:cs typeface="Menlo"/>
              </a:rPr>
              <a:t>↓</a:t>
            </a:r>
            <a:endParaRPr sz="1850">
              <a:latin typeface="Menlo"/>
              <a:cs typeface="Menlo"/>
            </a:endParaRPr>
          </a:p>
          <a:p>
            <a:pPr marL="179070">
              <a:lnSpc>
                <a:spcPts val="2160"/>
              </a:lnSpc>
            </a:pP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Issues</a:t>
            </a:r>
            <a:r>
              <a:rPr dirty="0" sz="1850" spc="-1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discovered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in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Menlo"/>
                <a:cs typeface="Menlo"/>
              </a:rPr>
              <a:t>production</a:t>
            </a:r>
            <a:endParaRPr sz="1850">
              <a:latin typeface="Menlo"/>
              <a:cs typeface="Menlo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850">
              <a:latin typeface="Menlo"/>
              <a:cs typeface="Menlo"/>
            </a:endParaRPr>
          </a:p>
          <a:p>
            <a:pPr marL="12700">
              <a:lnSpc>
                <a:spcPct val="100000"/>
              </a:lnSpc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Timeline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-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Weeks</a:t>
            </a:r>
            <a:r>
              <a:rPr dirty="0" sz="2150" spc="-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to months</a:t>
            </a:r>
            <a:r>
              <a:rPr dirty="0" sz="2150" spc="-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per document</a:t>
            </a:r>
            <a:r>
              <a:rPr dirty="0" sz="2150" spc="-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Arial"/>
                <a:cs typeface="Arial"/>
              </a:rPr>
              <a:t>type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dirty="0" spc="40"/>
              <a:t> </a:t>
            </a:r>
            <a:r>
              <a:rPr dirty="0"/>
              <a:t>Solution:</a:t>
            </a:r>
            <a:r>
              <a:rPr dirty="0" spc="45"/>
              <a:t> </a:t>
            </a:r>
            <a:r>
              <a:rPr dirty="0"/>
              <a:t>Self-Service</a:t>
            </a:r>
            <a:r>
              <a:rPr dirty="0" spc="50"/>
              <a:t> </a:t>
            </a:r>
            <a:r>
              <a:rPr dirty="0" spc="-10"/>
              <a:t>Onboarding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5012" y="1628457"/>
            <a:ext cx="5769610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4-Step</a:t>
            </a:r>
            <a:r>
              <a:rPr dirty="0" sz="2800" spc="1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Wizard</a:t>
            </a:r>
            <a:r>
              <a:rPr dirty="0" sz="2800" spc="2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for</a:t>
            </a:r>
            <a:r>
              <a:rPr dirty="0" sz="2800" spc="2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Business</a:t>
            </a:r>
            <a:r>
              <a:rPr dirty="0" sz="2800" spc="2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Users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305174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781424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4267199"/>
            <a:ext cx="85725" cy="857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2569527"/>
            <a:ext cx="4785360" cy="18897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00" b="1">
                <a:solidFill>
                  <a:srgbClr val="1F2328"/>
                </a:solidFill>
                <a:latin typeface="Arial"/>
                <a:cs typeface="Arial"/>
              </a:rPr>
              <a:t>Step</a:t>
            </a:r>
            <a:r>
              <a:rPr dirty="0" sz="2400" spc="-5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F2328"/>
                </a:solidFill>
                <a:latin typeface="Arial"/>
                <a:cs typeface="Arial"/>
              </a:rPr>
              <a:t>1:</a:t>
            </a:r>
            <a:r>
              <a:rPr dirty="0" sz="2400" spc="-4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F2328"/>
                </a:solidFill>
                <a:latin typeface="Arial"/>
                <a:cs typeface="Arial"/>
              </a:rPr>
              <a:t>Upload</a:t>
            </a:r>
            <a:r>
              <a:rPr dirty="0" sz="2400" spc="-4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F2328"/>
                </a:solidFill>
                <a:latin typeface="Arial"/>
                <a:cs typeface="Arial"/>
              </a:rPr>
              <a:t>&amp;</a:t>
            </a:r>
            <a:r>
              <a:rPr dirty="0" sz="2400" spc="-5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F2328"/>
                </a:solidFill>
                <a:latin typeface="Arial"/>
                <a:cs typeface="Arial"/>
              </a:rPr>
              <a:t>Classify</a:t>
            </a:r>
            <a:endParaRPr sz="2400">
              <a:latin typeface="Arial"/>
              <a:cs typeface="Arial"/>
            </a:endParaRPr>
          </a:p>
          <a:p>
            <a:pPr marL="564515">
              <a:lnSpc>
                <a:spcPct val="100000"/>
              </a:lnSpc>
              <a:spcBef>
                <a:spcPts val="1645"/>
              </a:spcBef>
            </a:pP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Upload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sample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document</a:t>
            </a:r>
            <a:endParaRPr sz="2150">
              <a:latin typeface="Arial"/>
              <a:cs typeface="Arial"/>
            </a:endParaRPr>
          </a:p>
          <a:p>
            <a:pPr marL="564515" marR="5080">
              <a:lnSpc>
                <a:spcPts val="3829"/>
              </a:lnSpc>
              <a:spcBef>
                <a:spcPts val="55"/>
              </a:spcBef>
            </a:pP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Auto-classification</a:t>
            </a:r>
            <a:r>
              <a:rPr dirty="0" sz="2150" spc="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with</a:t>
            </a:r>
            <a:r>
              <a:rPr dirty="0" sz="2150" spc="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confidence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Optional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ground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truth</a:t>
            </a:r>
            <a:endParaRPr sz="21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5448299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5924549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6410324"/>
            <a:ext cx="85725" cy="857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35012" y="4712652"/>
            <a:ext cx="3449320" cy="18897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00" b="1">
                <a:solidFill>
                  <a:srgbClr val="1F2328"/>
                </a:solidFill>
                <a:latin typeface="Arial"/>
                <a:cs typeface="Arial"/>
              </a:rPr>
              <a:t>Step</a:t>
            </a:r>
            <a:r>
              <a:rPr dirty="0" sz="2400" spc="-4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F2328"/>
                </a:solidFill>
                <a:latin typeface="Arial"/>
                <a:cs typeface="Arial"/>
              </a:rPr>
              <a:t>2:</a:t>
            </a:r>
            <a:r>
              <a:rPr dirty="0" sz="2400" spc="-4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F2328"/>
                </a:solidFill>
                <a:latin typeface="Arial"/>
                <a:cs typeface="Arial"/>
              </a:rPr>
              <a:t>Configure</a:t>
            </a:r>
            <a:endParaRPr sz="2400">
              <a:latin typeface="Arial"/>
              <a:cs typeface="Arial"/>
            </a:endParaRPr>
          </a:p>
          <a:p>
            <a:pPr marL="564515" marR="5080">
              <a:lnSpc>
                <a:spcPct val="146800"/>
              </a:lnSpc>
              <a:spcBef>
                <a:spcPts val="440"/>
              </a:spcBef>
            </a:pP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Select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extraction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model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Define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field</a:t>
            </a:r>
            <a:r>
              <a:rPr dirty="0" sz="2150" spc="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schema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Customize</a:t>
            </a:r>
            <a:r>
              <a:rPr dirty="0" sz="2150" spc="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prompts</a:t>
            </a:r>
            <a:endParaRPr sz="215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2724" y="3305174"/>
            <a:ext cx="85725" cy="857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2724" y="3781424"/>
            <a:ext cx="85725" cy="857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2724" y="4267199"/>
            <a:ext cx="85725" cy="857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221412" y="2569527"/>
            <a:ext cx="4062729" cy="18897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00" b="1">
                <a:solidFill>
                  <a:srgbClr val="1F2328"/>
                </a:solidFill>
                <a:latin typeface="Arial"/>
                <a:cs typeface="Arial"/>
              </a:rPr>
              <a:t>Step</a:t>
            </a:r>
            <a:r>
              <a:rPr dirty="0" sz="2400" spc="-6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F2328"/>
                </a:solidFill>
                <a:latin typeface="Arial"/>
                <a:cs typeface="Arial"/>
              </a:rPr>
              <a:t>3:</a:t>
            </a:r>
            <a:r>
              <a:rPr dirty="0" sz="2400" spc="-6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1F2328"/>
                </a:solidFill>
                <a:latin typeface="Arial"/>
                <a:cs typeface="Arial"/>
              </a:rPr>
              <a:t>Test</a:t>
            </a:r>
            <a:r>
              <a:rPr dirty="0" sz="2400" spc="-6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F2328"/>
                </a:solidFill>
                <a:latin typeface="Arial"/>
                <a:cs typeface="Arial"/>
              </a:rPr>
              <a:t>&amp;</a:t>
            </a:r>
            <a:r>
              <a:rPr dirty="0" sz="2400" spc="-6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F2328"/>
                </a:solidFill>
                <a:latin typeface="Arial"/>
                <a:cs typeface="Arial"/>
              </a:rPr>
              <a:t>Evaluate</a:t>
            </a:r>
            <a:endParaRPr sz="2400">
              <a:latin typeface="Arial"/>
              <a:cs typeface="Arial"/>
            </a:endParaRPr>
          </a:p>
          <a:p>
            <a:pPr marL="564515" marR="5080">
              <a:lnSpc>
                <a:spcPct val="146800"/>
              </a:lnSpc>
              <a:spcBef>
                <a:spcPts val="440"/>
              </a:spcBef>
            </a:pP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Real-time</a:t>
            </a:r>
            <a:r>
              <a:rPr dirty="0" sz="2150" spc="5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extraction</a:t>
            </a:r>
            <a:r>
              <a:rPr dirty="0" sz="2150" spc="5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preview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AI-powered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quality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scores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Iterate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until</a:t>
            </a:r>
            <a:r>
              <a:rPr dirty="0" sz="2150" spc="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satisfied</a:t>
            </a:r>
            <a:endParaRPr sz="215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2724" y="5448299"/>
            <a:ext cx="85725" cy="8572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2724" y="5924549"/>
            <a:ext cx="85725" cy="8572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2724" y="6410324"/>
            <a:ext cx="85725" cy="8572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221412" y="4712652"/>
            <a:ext cx="3234055" cy="18897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00" b="1">
                <a:solidFill>
                  <a:srgbClr val="1F2328"/>
                </a:solidFill>
                <a:latin typeface="Arial"/>
                <a:cs typeface="Arial"/>
              </a:rPr>
              <a:t>Step</a:t>
            </a:r>
            <a:r>
              <a:rPr dirty="0" sz="2400" spc="-4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F2328"/>
                </a:solidFill>
                <a:latin typeface="Arial"/>
                <a:cs typeface="Arial"/>
              </a:rPr>
              <a:t>4:</a:t>
            </a:r>
            <a:r>
              <a:rPr dirty="0" sz="2400" spc="-4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F2328"/>
                </a:solidFill>
                <a:latin typeface="Arial"/>
                <a:cs typeface="Arial"/>
              </a:rPr>
              <a:t>Finalize</a:t>
            </a:r>
            <a:endParaRPr sz="2400">
              <a:latin typeface="Arial"/>
              <a:cs typeface="Arial"/>
            </a:endParaRPr>
          </a:p>
          <a:p>
            <a:pPr marL="564515" marR="5080">
              <a:lnSpc>
                <a:spcPct val="146800"/>
              </a:lnSpc>
              <a:spcBef>
                <a:spcPts val="440"/>
              </a:spcBef>
            </a:pP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One-click</a:t>
            </a:r>
            <a:r>
              <a:rPr dirty="0" sz="2150" spc="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deployment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Version</a:t>
            </a:r>
            <a:r>
              <a:rPr dirty="0" sz="2150" spc="-7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control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Instant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availability</a:t>
            </a:r>
            <a:endParaRPr sz="21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66301" y="632142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777777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52474" y="5257799"/>
          <a:ext cx="6496050" cy="1426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7375"/>
                <a:gridCol w="4552950"/>
              </a:tblGrid>
              <a:tr h="475615">
                <a:tc>
                  <a:txBody>
                    <a:bodyPr/>
                    <a:lstStyle/>
                    <a:p>
                      <a:pPr marL="3911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Evaluator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Purpose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Correctness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value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present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source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document?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Completeness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full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value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captured?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AI-Powered</a:t>
            </a:r>
            <a:r>
              <a:rPr dirty="0" spc="60"/>
              <a:t> </a:t>
            </a:r>
            <a:r>
              <a:rPr dirty="0"/>
              <a:t>Evaluation</a:t>
            </a:r>
            <a:r>
              <a:rPr dirty="0" spc="75"/>
              <a:t> </a:t>
            </a:r>
            <a:r>
              <a:rPr dirty="0" spc="-10"/>
              <a:t>Framework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105149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590924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4076699"/>
            <a:ext cx="85725" cy="857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1628457"/>
            <a:ext cx="6519545" cy="33426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The</a:t>
            </a:r>
            <a:r>
              <a:rPr dirty="0" sz="2800" spc="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Problem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0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How</a:t>
            </a:r>
            <a:r>
              <a:rPr dirty="0" sz="2150" spc="4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do</a:t>
            </a:r>
            <a:r>
              <a:rPr dirty="0" sz="2150" spc="5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you</a:t>
            </a:r>
            <a:r>
              <a:rPr dirty="0" sz="2150" spc="5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know</a:t>
            </a:r>
            <a:r>
              <a:rPr dirty="0" sz="2150" spc="5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extraction</a:t>
            </a:r>
            <a:r>
              <a:rPr dirty="0" sz="2150" spc="5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is</a:t>
            </a:r>
            <a:r>
              <a:rPr dirty="0" sz="2150" spc="5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F2328"/>
                </a:solidFill>
                <a:latin typeface="Arial"/>
                <a:cs typeface="Arial"/>
              </a:rPr>
              <a:t>correct?</a:t>
            </a:r>
            <a:endParaRPr sz="2150">
              <a:latin typeface="Arial"/>
              <a:cs typeface="Arial"/>
            </a:endParaRPr>
          </a:p>
          <a:p>
            <a:pPr marL="564515" marR="111760">
              <a:lnSpc>
                <a:spcPct val="148300"/>
              </a:lnSpc>
              <a:spcBef>
                <a:spcPts val="600"/>
              </a:spcBef>
            </a:pP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Without</a:t>
            </a:r>
            <a:r>
              <a:rPr dirty="0" sz="2150" spc="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ground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truth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data,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accuracy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is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unknown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Issues</a:t>
            </a:r>
            <a:r>
              <a:rPr dirty="0" sz="2150" spc="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discovered</a:t>
            </a:r>
            <a:r>
              <a:rPr dirty="0" sz="2150" spc="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only</a:t>
            </a:r>
            <a:r>
              <a:rPr dirty="0" sz="2150" spc="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in</a:t>
            </a:r>
            <a:r>
              <a:rPr dirty="0" sz="2150" spc="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production</a:t>
            </a:r>
            <a:endParaRPr sz="2150">
              <a:latin typeface="Arial"/>
              <a:cs typeface="Arial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Manual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review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of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every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extraction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is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not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scalable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Our</a:t>
            </a:r>
            <a:r>
              <a:rPr dirty="0" sz="2800" spc="2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Solution:</a:t>
            </a:r>
            <a:r>
              <a:rPr dirty="0" sz="2800" spc="2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Dual</a:t>
            </a:r>
            <a:r>
              <a:rPr dirty="0" sz="2800" spc="-8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AI</a:t>
            </a:r>
            <a:r>
              <a:rPr dirty="0" sz="2800" spc="2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Evaluators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7955">
              <a:lnSpc>
                <a:spcPts val="2090"/>
              </a:lnSpc>
            </a:pPr>
            <a:fld id="{81D60167-4931-47E6-BA6A-407CBD079E47}" type="slidenum">
              <a:rPr dirty="0" spc="-50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Evaluation:</a:t>
            </a:r>
            <a:r>
              <a:rPr dirty="0" spc="-20"/>
              <a:t> </a:t>
            </a:r>
            <a:r>
              <a:rPr dirty="0"/>
              <a:t>No</a:t>
            </a:r>
            <a:r>
              <a:rPr dirty="0" spc="-15"/>
              <a:t> </a:t>
            </a:r>
            <a:r>
              <a:rPr dirty="0"/>
              <a:t>Ground</a:t>
            </a:r>
            <a:r>
              <a:rPr dirty="0" spc="-15"/>
              <a:t> </a:t>
            </a:r>
            <a:r>
              <a:rPr dirty="0"/>
              <a:t>Truth</a:t>
            </a:r>
            <a:r>
              <a:rPr dirty="0" spc="-20"/>
              <a:t> </a:t>
            </a:r>
            <a:r>
              <a:rPr dirty="0" spc="-10"/>
              <a:t>Required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105149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590924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4076699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5210174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5695949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6172199"/>
            <a:ext cx="85725" cy="857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5012" y="1628457"/>
            <a:ext cx="5721985" cy="47358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How</a:t>
            </a:r>
            <a:r>
              <a:rPr dirty="0" sz="2800" spc="1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It</a:t>
            </a:r>
            <a:r>
              <a:rPr dirty="0" sz="2800" spc="2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Works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0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Correctness</a:t>
            </a:r>
            <a:r>
              <a:rPr dirty="0" sz="2150" spc="13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F2328"/>
                </a:solidFill>
                <a:latin typeface="Arial"/>
                <a:cs typeface="Arial"/>
              </a:rPr>
              <a:t>Evaluator</a:t>
            </a:r>
            <a:endParaRPr sz="2150">
              <a:latin typeface="Arial"/>
              <a:cs typeface="Arial"/>
            </a:endParaRPr>
          </a:p>
          <a:p>
            <a:pPr marL="564515" marR="5080">
              <a:lnSpc>
                <a:spcPct val="148300"/>
              </a:lnSpc>
              <a:spcBef>
                <a:spcPts val="600"/>
              </a:spcBef>
            </a:pP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Tokenizes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extracted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value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and source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Arial"/>
                <a:cs typeface="Arial"/>
              </a:rPr>
              <a:t>text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Measures</a:t>
            </a:r>
            <a:r>
              <a:rPr dirty="0" sz="2150" spc="6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token-level</a:t>
            </a:r>
            <a:r>
              <a:rPr dirty="0" sz="2150" spc="7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coverage</a:t>
            </a:r>
            <a:r>
              <a:rPr dirty="0" sz="2150" spc="7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ratio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100%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=</a:t>
            </a:r>
            <a:r>
              <a:rPr dirty="0" sz="2150" spc="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all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tokens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found</a:t>
            </a:r>
            <a:r>
              <a:rPr dirty="0" sz="2150" spc="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in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source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Completeness</a:t>
            </a:r>
            <a:r>
              <a:rPr dirty="0" sz="2150" spc="15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F2328"/>
                </a:solidFill>
                <a:latin typeface="Arial"/>
                <a:cs typeface="Arial"/>
              </a:rPr>
              <a:t>Evaluator</a:t>
            </a:r>
            <a:endParaRPr sz="2150">
              <a:latin typeface="Arial"/>
              <a:cs typeface="Arial"/>
            </a:endParaRPr>
          </a:p>
          <a:p>
            <a:pPr marL="564515" marR="511809">
              <a:lnSpc>
                <a:spcPct val="146800"/>
              </a:lnSpc>
              <a:spcBef>
                <a:spcPts val="710"/>
              </a:spcBef>
            </a:pP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Uses</a:t>
            </a:r>
            <a:r>
              <a:rPr dirty="0" sz="2150" spc="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LLM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to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assess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extraction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quality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Checks</a:t>
            </a:r>
            <a:r>
              <a:rPr dirty="0" sz="2150" spc="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if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full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context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was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captured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Provides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reasoning</a:t>
            </a:r>
            <a:r>
              <a:rPr dirty="0" sz="2150" spc="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for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scores</a:t>
            </a:r>
            <a:endParaRPr sz="21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7955">
              <a:lnSpc>
                <a:spcPts val="2090"/>
              </a:lnSpc>
            </a:pPr>
            <a:fld id="{81D60167-4931-47E6-BA6A-407CBD079E47}" type="slidenum">
              <a:rPr dirty="0" spc="-50"/>
              <a:t>6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52474" y="2476499"/>
          <a:ext cx="8848725" cy="2378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4525"/>
                <a:gridCol w="2000250"/>
                <a:gridCol w="1628775"/>
                <a:gridCol w="1857375"/>
                <a:gridCol w="1362075"/>
              </a:tblGrid>
              <a:tr h="475615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Field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Extracted</a:t>
                      </a:r>
                      <a:r>
                        <a:rPr dirty="0" sz="1850" spc="-25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Correctness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Completeness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639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Applicant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John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Smith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95%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100%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799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Pass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Policy</a:t>
                      </a:r>
                      <a:r>
                        <a:rPr dirty="0" sz="1850" spc="-8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$500,000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100%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100%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46799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Pass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Coverage</a:t>
                      </a:r>
                      <a:r>
                        <a:rPr dirty="0" sz="1850" spc="-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Start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2026-01-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88%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92%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799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Pass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Medical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History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Diabetes</a:t>
                      </a:r>
                      <a:r>
                        <a:rPr dirty="0" sz="1850" spc="-10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Type</a:t>
                      </a:r>
                      <a:r>
                        <a:rPr dirty="0" sz="1850" spc="-7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72%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65%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46799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Review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831214"/>
            <a:ext cx="425704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Evaluation</a:t>
            </a:r>
            <a:r>
              <a:rPr dirty="0" spc="35"/>
              <a:t> </a:t>
            </a:r>
            <a:r>
              <a:rPr dirty="0"/>
              <a:t>in</a:t>
            </a:r>
            <a:r>
              <a:rPr dirty="0" spc="-100"/>
              <a:t> </a:t>
            </a:r>
            <a:r>
              <a:rPr dirty="0" spc="-10"/>
              <a:t>Action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5012" y="1742757"/>
            <a:ext cx="4176395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Per-Field</a:t>
            </a:r>
            <a:r>
              <a:rPr dirty="0" sz="2800" spc="4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Quality</a:t>
            </a:r>
            <a:r>
              <a:rPr dirty="0" sz="2800" spc="4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Scores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2574" y="3057524"/>
            <a:ext cx="228600" cy="2381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5175" y="3057524"/>
            <a:ext cx="238125" cy="2381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15325" y="3057524"/>
            <a:ext cx="238125" cy="2381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399" y="3533775"/>
            <a:ext cx="238125" cy="2381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5175" y="3533775"/>
            <a:ext cx="238125" cy="2381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15325" y="3533775"/>
            <a:ext cx="238125" cy="2381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2574" y="4010025"/>
            <a:ext cx="228600" cy="2381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91350" y="4010025"/>
            <a:ext cx="228600" cy="2381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15325" y="4010025"/>
            <a:ext cx="238125" cy="23812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62574" y="4486275"/>
            <a:ext cx="228600" cy="2381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91350" y="4486275"/>
            <a:ext cx="228600" cy="2381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18713" y="4491207"/>
            <a:ext cx="231346" cy="226577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4000500" y="5067299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276225"/>
                </a:moveTo>
                <a:lnTo>
                  <a:pt x="98020" y="270279"/>
                </a:lnTo>
                <a:lnTo>
                  <a:pt x="61381" y="252948"/>
                </a:lnTo>
                <a:lnTo>
                  <a:pt x="31348" y="225731"/>
                </a:lnTo>
                <a:lnTo>
                  <a:pt x="10513" y="190965"/>
                </a:lnTo>
                <a:lnTo>
                  <a:pt x="663" y="151650"/>
                </a:lnTo>
                <a:lnTo>
                  <a:pt x="0" y="138112"/>
                </a:lnTo>
                <a:lnTo>
                  <a:pt x="165" y="131327"/>
                </a:lnTo>
                <a:lnTo>
                  <a:pt x="8069" y="91591"/>
                </a:lnTo>
                <a:lnTo>
                  <a:pt x="27183" y="55831"/>
                </a:lnTo>
                <a:lnTo>
                  <a:pt x="55831" y="27183"/>
                </a:lnTo>
                <a:lnTo>
                  <a:pt x="91591" y="8069"/>
                </a:lnTo>
                <a:lnTo>
                  <a:pt x="131327" y="165"/>
                </a:lnTo>
                <a:lnTo>
                  <a:pt x="138112" y="0"/>
                </a:lnTo>
                <a:lnTo>
                  <a:pt x="144897" y="165"/>
                </a:lnTo>
                <a:lnTo>
                  <a:pt x="184633" y="8069"/>
                </a:lnTo>
                <a:lnTo>
                  <a:pt x="220393" y="27183"/>
                </a:lnTo>
                <a:lnTo>
                  <a:pt x="249041" y="55831"/>
                </a:lnTo>
                <a:lnTo>
                  <a:pt x="268155" y="91591"/>
                </a:lnTo>
                <a:lnTo>
                  <a:pt x="276059" y="131327"/>
                </a:lnTo>
                <a:lnTo>
                  <a:pt x="276225" y="138112"/>
                </a:lnTo>
                <a:lnTo>
                  <a:pt x="276059" y="144897"/>
                </a:lnTo>
                <a:lnTo>
                  <a:pt x="268155" y="184633"/>
                </a:lnTo>
                <a:lnTo>
                  <a:pt x="249041" y="220393"/>
                </a:lnTo>
                <a:lnTo>
                  <a:pt x="220393" y="249041"/>
                </a:lnTo>
                <a:lnTo>
                  <a:pt x="184633" y="268155"/>
                </a:lnTo>
                <a:lnTo>
                  <a:pt x="144897" y="276059"/>
                </a:lnTo>
                <a:lnTo>
                  <a:pt x="138112" y="276225"/>
                </a:lnTo>
                <a:close/>
              </a:path>
            </a:pathLst>
          </a:custGeom>
          <a:solidFill>
            <a:srgbClr val="78B0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324474" y="5067299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276225"/>
                </a:moveTo>
                <a:lnTo>
                  <a:pt x="98020" y="270279"/>
                </a:lnTo>
                <a:lnTo>
                  <a:pt x="61381" y="252948"/>
                </a:lnTo>
                <a:lnTo>
                  <a:pt x="31348" y="225731"/>
                </a:lnTo>
                <a:lnTo>
                  <a:pt x="10513" y="190965"/>
                </a:lnTo>
                <a:lnTo>
                  <a:pt x="663" y="151650"/>
                </a:lnTo>
                <a:lnTo>
                  <a:pt x="0" y="138112"/>
                </a:lnTo>
                <a:lnTo>
                  <a:pt x="165" y="131327"/>
                </a:lnTo>
                <a:lnTo>
                  <a:pt x="8069" y="91591"/>
                </a:lnTo>
                <a:lnTo>
                  <a:pt x="27183" y="55831"/>
                </a:lnTo>
                <a:lnTo>
                  <a:pt x="55831" y="27183"/>
                </a:lnTo>
                <a:lnTo>
                  <a:pt x="91591" y="8069"/>
                </a:lnTo>
                <a:lnTo>
                  <a:pt x="131327" y="165"/>
                </a:lnTo>
                <a:lnTo>
                  <a:pt x="138112" y="0"/>
                </a:lnTo>
                <a:lnTo>
                  <a:pt x="144897" y="165"/>
                </a:lnTo>
                <a:lnTo>
                  <a:pt x="184633" y="8069"/>
                </a:lnTo>
                <a:lnTo>
                  <a:pt x="220393" y="27183"/>
                </a:lnTo>
                <a:lnTo>
                  <a:pt x="249041" y="55831"/>
                </a:lnTo>
                <a:lnTo>
                  <a:pt x="268155" y="91591"/>
                </a:lnTo>
                <a:lnTo>
                  <a:pt x="276059" y="131327"/>
                </a:lnTo>
                <a:lnTo>
                  <a:pt x="276225" y="138112"/>
                </a:lnTo>
                <a:lnTo>
                  <a:pt x="276059" y="144897"/>
                </a:lnTo>
                <a:lnTo>
                  <a:pt x="268155" y="184633"/>
                </a:lnTo>
                <a:lnTo>
                  <a:pt x="249041" y="220393"/>
                </a:lnTo>
                <a:lnTo>
                  <a:pt x="220393" y="249041"/>
                </a:lnTo>
                <a:lnTo>
                  <a:pt x="184633" y="268155"/>
                </a:lnTo>
                <a:lnTo>
                  <a:pt x="144897" y="276059"/>
                </a:lnTo>
                <a:lnTo>
                  <a:pt x="138112" y="276225"/>
                </a:lnTo>
                <a:close/>
              </a:path>
            </a:pathLst>
          </a:custGeom>
          <a:solidFill>
            <a:srgbClr val="FDCB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896100" y="5067299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276225"/>
                </a:moveTo>
                <a:lnTo>
                  <a:pt x="98020" y="270279"/>
                </a:lnTo>
                <a:lnTo>
                  <a:pt x="61381" y="252948"/>
                </a:lnTo>
                <a:lnTo>
                  <a:pt x="31348" y="225731"/>
                </a:lnTo>
                <a:lnTo>
                  <a:pt x="10513" y="190965"/>
                </a:lnTo>
                <a:lnTo>
                  <a:pt x="663" y="151650"/>
                </a:lnTo>
                <a:lnTo>
                  <a:pt x="0" y="138112"/>
                </a:lnTo>
                <a:lnTo>
                  <a:pt x="165" y="131327"/>
                </a:lnTo>
                <a:lnTo>
                  <a:pt x="8069" y="91591"/>
                </a:lnTo>
                <a:lnTo>
                  <a:pt x="27183" y="55831"/>
                </a:lnTo>
                <a:lnTo>
                  <a:pt x="55831" y="27183"/>
                </a:lnTo>
                <a:lnTo>
                  <a:pt x="91591" y="8069"/>
                </a:lnTo>
                <a:lnTo>
                  <a:pt x="131327" y="165"/>
                </a:lnTo>
                <a:lnTo>
                  <a:pt x="138112" y="0"/>
                </a:lnTo>
                <a:lnTo>
                  <a:pt x="144897" y="165"/>
                </a:lnTo>
                <a:lnTo>
                  <a:pt x="184633" y="8069"/>
                </a:lnTo>
                <a:lnTo>
                  <a:pt x="220393" y="27183"/>
                </a:lnTo>
                <a:lnTo>
                  <a:pt x="249041" y="55831"/>
                </a:lnTo>
                <a:lnTo>
                  <a:pt x="268155" y="91591"/>
                </a:lnTo>
                <a:lnTo>
                  <a:pt x="276059" y="131327"/>
                </a:lnTo>
                <a:lnTo>
                  <a:pt x="276225" y="138112"/>
                </a:lnTo>
                <a:lnTo>
                  <a:pt x="276059" y="144897"/>
                </a:lnTo>
                <a:lnTo>
                  <a:pt x="268155" y="184633"/>
                </a:lnTo>
                <a:lnTo>
                  <a:pt x="249041" y="220393"/>
                </a:lnTo>
                <a:lnTo>
                  <a:pt x="220393" y="249041"/>
                </a:lnTo>
                <a:lnTo>
                  <a:pt x="184633" y="268155"/>
                </a:lnTo>
                <a:lnTo>
                  <a:pt x="144897" y="276059"/>
                </a:lnTo>
                <a:lnTo>
                  <a:pt x="138112" y="276225"/>
                </a:lnTo>
                <a:close/>
              </a:path>
            </a:pathLst>
          </a:custGeom>
          <a:solidFill>
            <a:srgbClr val="DD2E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35012" y="5026025"/>
            <a:ext cx="6503670" cy="92836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630295" algn="l"/>
                <a:tab pos="4954270" algn="l"/>
              </a:tabLst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Scores</a:t>
            </a:r>
            <a:r>
              <a:rPr dirty="0" sz="2150" spc="2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are</a:t>
            </a:r>
            <a:r>
              <a:rPr dirty="0" sz="2150" spc="3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color-</a:t>
            </a:r>
            <a:r>
              <a:rPr dirty="0" sz="2150" spc="-10" b="1">
                <a:solidFill>
                  <a:srgbClr val="1F2328"/>
                </a:solidFill>
                <a:latin typeface="Arial"/>
                <a:cs typeface="Arial"/>
              </a:rPr>
              <a:t>coded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	≥80%</a:t>
            </a:r>
            <a:r>
              <a:rPr dirty="0" sz="2150" spc="5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50">
                <a:solidFill>
                  <a:srgbClr val="1F2328"/>
                </a:solidFill>
                <a:latin typeface="Arial"/>
                <a:cs typeface="Arial"/>
              </a:rPr>
              <a:t>|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	50-79%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50">
                <a:solidFill>
                  <a:srgbClr val="1F2328"/>
                </a:solidFill>
                <a:latin typeface="Arial"/>
                <a:cs typeface="Arial"/>
              </a:rPr>
              <a:t>|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Each</a:t>
            </a:r>
            <a:r>
              <a:rPr dirty="0" sz="2150" spc="2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field</a:t>
            </a:r>
            <a:r>
              <a:rPr dirty="0" sz="2150" spc="2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links</a:t>
            </a:r>
            <a:r>
              <a:rPr dirty="0" sz="2150" spc="3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to</a:t>
            </a:r>
            <a:r>
              <a:rPr dirty="0" sz="2150" spc="2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source</a:t>
            </a:r>
            <a:r>
              <a:rPr dirty="0" sz="2150" spc="3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text</a:t>
            </a:r>
            <a:r>
              <a:rPr dirty="0" sz="2150" spc="2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for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visual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verification</a:t>
            </a:r>
            <a:endParaRPr sz="215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7955">
              <a:lnSpc>
                <a:spcPts val="2090"/>
              </a:lnSpc>
            </a:pPr>
            <a:fld id="{81D60167-4931-47E6-BA6A-407CBD079E47}" type="slidenum">
              <a:rPr dirty="0" spc="-50"/>
              <a:t>6</a:t>
            </a:fld>
          </a:p>
        </p:txBody>
      </p:sp>
      <p:sp>
        <p:nvSpPr>
          <p:cNvPr id="21" name="object 21"/>
          <p:cNvSpPr txBox="1"/>
          <p:nvPr/>
        </p:nvSpPr>
        <p:spPr>
          <a:xfrm>
            <a:off x="7248721" y="5026025"/>
            <a:ext cx="739775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20">
                <a:solidFill>
                  <a:srgbClr val="1F2328"/>
                </a:solidFill>
                <a:latin typeface="Arial"/>
                <a:cs typeface="Arial"/>
              </a:rPr>
              <a:t>&lt;50%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7955">
              <a:lnSpc>
                <a:spcPts val="2090"/>
              </a:lnSpc>
            </a:pPr>
            <a:fld id="{81D60167-4931-47E6-BA6A-407CBD079E47}" type="slidenum">
              <a:rPr dirty="0" spc="-50"/>
              <a:t>6</a:t>
            </a:fld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52474" y="3047999"/>
          <a:ext cx="5924550" cy="2378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3575"/>
                <a:gridCol w="2038350"/>
                <a:gridCol w="1866900"/>
              </a:tblGrid>
              <a:tr h="475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Layer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37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Current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465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Can</a:t>
                      </a:r>
                      <a:r>
                        <a:rPr dirty="0" sz="1850" spc="-85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5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Add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Classification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dirty="0" sz="1850" spc="-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CU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Custom</a:t>
                      </a:r>
                      <a:r>
                        <a:rPr dirty="0" sz="1850" spc="-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ML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Extraction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GPT-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4o,</a:t>
                      </a:r>
                      <a:r>
                        <a:rPr dirty="0" sz="1850" spc="4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GPT-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4V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Claude,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Gemini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Summarization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GPT-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4o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Any</a:t>
                      </a:r>
                      <a:r>
                        <a:rPr dirty="0" sz="1850" spc="-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LLM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25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OCR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dirty="0" sz="1850" spc="-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Doc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Intel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Tesseract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1393189"/>
            <a:ext cx="484759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Pluggable</a:t>
            </a:r>
            <a:r>
              <a:rPr dirty="0" spc="-90"/>
              <a:t> </a:t>
            </a:r>
            <a:r>
              <a:rPr dirty="0" spc="-1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5012" y="2304732"/>
            <a:ext cx="7303770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Swap</a:t>
            </a:r>
            <a:r>
              <a:rPr dirty="0" sz="2800" spc="2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Components</a:t>
            </a:r>
            <a:r>
              <a:rPr dirty="0" sz="2800" spc="2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Without</a:t>
            </a:r>
            <a:r>
              <a:rPr dirty="0" sz="2800" spc="2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Code</a:t>
            </a:r>
            <a:r>
              <a:rPr dirty="0" sz="2800" spc="2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Changes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How</a:t>
            </a:r>
            <a:r>
              <a:rPr dirty="0" spc="70"/>
              <a:t> </a:t>
            </a:r>
            <a:r>
              <a:rPr dirty="0"/>
              <a:t>Pluggable</a:t>
            </a:r>
            <a:r>
              <a:rPr dirty="0" spc="-70"/>
              <a:t> </a:t>
            </a:r>
            <a:r>
              <a:rPr dirty="0"/>
              <a:t>Architecture</a:t>
            </a:r>
            <a:r>
              <a:rPr dirty="0" spc="75"/>
              <a:t> </a:t>
            </a:r>
            <a:r>
              <a:rPr dirty="0" spc="-10"/>
              <a:t>Works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2543174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028949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505199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990974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5343524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5829299"/>
            <a:ext cx="85725" cy="857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5012" y="1628457"/>
            <a:ext cx="6580505" cy="43929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Interface-Driven</a:t>
            </a:r>
            <a:r>
              <a:rPr dirty="0" sz="2800" spc="4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Design</a:t>
            </a:r>
            <a:endParaRPr sz="2800">
              <a:latin typeface="Arial"/>
              <a:cs typeface="Arial"/>
            </a:endParaRPr>
          </a:p>
          <a:p>
            <a:pPr marL="564515" marR="5080">
              <a:lnSpc>
                <a:spcPct val="146800"/>
              </a:lnSpc>
              <a:spcBef>
                <a:spcPts val="1335"/>
              </a:spcBef>
            </a:pP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Each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component</a:t>
            </a:r>
            <a:r>
              <a:rPr dirty="0" sz="2150" spc="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implements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Python</a:t>
            </a:r>
            <a:r>
              <a:rPr dirty="0" sz="2150" spc="4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F2328"/>
                </a:solidFill>
                <a:latin typeface="Arial"/>
                <a:cs typeface="Arial"/>
              </a:rPr>
              <a:t>Protocol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Swap</a:t>
            </a:r>
            <a:r>
              <a:rPr dirty="0" sz="2150" spc="5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implementations</a:t>
            </a:r>
            <a:r>
              <a:rPr dirty="0" sz="2150" spc="7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via</a:t>
            </a:r>
            <a:r>
              <a:rPr dirty="0" sz="2150" spc="6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F2328"/>
                </a:solidFill>
                <a:latin typeface="Arial"/>
                <a:cs typeface="Arial"/>
              </a:rPr>
              <a:t>configuration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Register</a:t>
            </a:r>
            <a:r>
              <a:rPr dirty="0" sz="2150" spc="5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new</a:t>
            </a:r>
            <a:r>
              <a:rPr dirty="0" sz="2150" spc="5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models</a:t>
            </a:r>
            <a:r>
              <a:rPr dirty="0" sz="2150" spc="6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in</a:t>
            </a:r>
            <a:r>
              <a:rPr dirty="0" sz="2150" spc="6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Model</a:t>
            </a:r>
            <a:r>
              <a:rPr dirty="0" sz="2150" spc="6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F2328"/>
                </a:solidFill>
                <a:latin typeface="Arial"/>
                <a:cs typeface="Arial"/>
              </a:rPr>
              <a:t>Registry</a:t>
            </a:r>
            <a:endParaRPr sz="2150">
              <a:latin typeface="Arial"/>
              <a:cs typeface="Arial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No</a:t>
            </a:r>
            <a:r>
              <a:rPr dirty="0" sz="2150" spc="4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redeployment</a:t>
            </a:r>
            <a:r>
              <a:rPr dirty="0" sz="2150" spc="5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needed</a:t>
            </a:r>
            <a:r>
              <a:rPr dirty="0" sz="2150" spc="5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for</a:t>
            </a:r>
            <a:r>
              <a:rPr dirty="0" sz="2150" spc="5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new</a:t>
            </a:r>
            <a:r>
              <a:rPr dirty="0" sz="2150" spc="5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models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45"/>
              </a:spcBef>
            </a:pP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Benefits</a:t>
            </a:r>
            <a:endParaRPr sz="2800">
              <a:latin typeface="Arial"/>
              <a:cs typeface="Arial"/>
            </a:endParaRPr>
          </a:p>
          <a:p>
            <a:pPr marL="564515" marR="986155">
              <a:lnSpc>
                <a:spcPct val="148300"/>
              </a:lnSpc>
              <a:spcBef>
                <a:spcPts val="1215"/>
              </a:spcBef>
            </a:pP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Future-proof:</a:t>
            </a:r>
            <a:r>
              <a:rPr dirty="0" sz="2150" spc="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adopt</a:t>
            </a:r>
            <a:r>
              <a:rPr dirty="0" sz="2150" spc="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new</a:t>
            </a:r>
            <a:r>
              <a:rPr dirty="0" sz="215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AI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models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easily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Vendor flexibility:</a:t>
            </a:r>
            <a:r>
              <a:rPr dirty="0" sz="2150" spc="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avoid</a:t>
            </a:r>
            <a:r>
              <a:rPr dirty="0" sz="2150" spc="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lock-</a:t>
            </a:r>
            <a:r>
              <a:rPr dirty="0" sz="2150" spc="-25">
                <a:solidFill>
                  <a:srgbClr val="1F2328"/>
                </a:solidFill>
                <a:latin typeface="Arial"/>
                <a:cs typeface="Arial"/>
              </a:rPr>
              <a:t>in</a:t>
            </a:r>
            <a:endParaRPr sz="215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6315074"/>
            <a:ext cx="85725" cy="857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87462" y="6149974"/>
            <a:ext cx="4877435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25">
                <a:solidFill>
                  <a:srgbClr val="1F2328"/>
                </a:solidFill>
                <a:latin typeface="Arial"/>
                <a:cs typeface="Arial"/>
              </a:rPr>
              <a:t>Test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alternatives:</a:t>
            </a:r>
            <a:r>
              <a:rPr dirty="0" sz="2150" spc="-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compare</a:t>
            </a:r>
            <a:r>
              <a:rPr dirty="0" sz="2150" spc="-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performance</a:t>
            </a:r>
            <a:endParaRPr sz="2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39201" y="6321424"/>
            <a:ext cx="280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777777"/>
                </a:solidFill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52474" y="3000374"/>
          <a:ext cx="5267325" cy="1902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7450"/>
                <a:gridCol w="1666875"/>
                <a:gridCol w="1057275"/>
              </a:tblGrid>
              <a:tr h="475615">
                <a:tc>
                  <a:txBody>
                    <a:bodyPr/>
                    <a:lstStyle/>
                    <a:p>
                      <a:pPr marL="58483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Confidence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Action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Effort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4584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(≥80%)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Auto-approve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None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4584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Medium</a:t>
                      </a:r>
                      <a:r>
                        <a:rPr dirty="0" sz="1850" spc="-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(50-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79%)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Quick</a:t>
                      </a:r>
                      <a:r>
                        <a:rPr dirty="0" sz="1850" spc="-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review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Minimal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4584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Low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(&lt;50%)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Full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review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Full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1355089"/>
            <a:ext cx="4100829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Human-in-the-</a:t>
            </a:r>
            <a:r>
              <a:rPr dirty="0" spc="-20"/>
              <a:t>Loop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5012" y="2266632"/>
            <a:ext cx="6270625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Smart</a:t>
            </a:r>
            <a:r>
              <a:rPr dirty="0" sz="2800" spc="2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Routing</a:t>
            </a:r>
            <a:r>
              <a:rPr dirty="0" sz="2800" spc="2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Based</a:t>
            </a:r>
            <a:r>
              <a:rPr dirty="0" sz="2800" spc="2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on</a:t>
            </a:r>
            <a:r>
              <a:rPr dirty="0" sz="2800" spc="2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Confidence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4875" y="3581400"/>
            <a:ext cx="238125" cy="228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875" y="4057650"/>
            <a:ext cx="238125" cy="2285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4875" y="4533900"/>
            <a:ext cx="238125" cy="2285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5073650"/>
            <a:ext cx="6642734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Result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Reviewers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focus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only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on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uncertain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extractions</a:t>
            </a:r>
            <a:endParaRPr sz="21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09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659889"/>
            <a:ext cx="437070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Citation</a:t>
            </a:r>
            <a:r>
              <a:rPr dirty="0" spc="40"/>
              <a:t> </a:t>
            </a:r>
            <a:r>
              <a:rPr dirty="0" spc="-10"/>
              <a:t>Highlighting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476624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962399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4448174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4933949"/>
            <a:ext cx="85725" cy="857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2571432"/>
            <a:ext cx="6074410" cy="2554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Visual</a:t>
            </a:r>
            <a:r>
              <a:rPr dirty="0" sz="2800" spc="-4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Verification</a:t>
            </a:r>
            <a:r>
              <a:rPr dirty="0" sz="2800" spc="-3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in</a:t>
            </a:r>
            <a:r>
              <a:rPr dirty="0" sz="2800" spc="-3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Seconds</a:t>
            </a:r>
            <a:endParaRPr sz="2800">
              <a:latin typeface="Arial"/>
              <a:cs typeface="Arial"/>
            </a:endParaRPr>
          </a:p>
          <a:p>
            <a:pPr marL="564515" marR="5080">
              <a:lnSpc>
                <a:spcPct val="148300"/>
              </a:lnSpc>
              <a:spcBef>
                <a:spcPts val="1220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Click</a:t>
            </a:r>
            <a:r>
              <a:rPr dirty="0" sz="2150" spc="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any</a:t>
            </a:r>
            <a:r>
              <a:rPr dirty="0" sz="2150" spc="2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field</a:t>
            </a:r>
            <a:r>
              <a:rPr dirty="0" sz="2150" spc="1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→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Source</a:t>
            </a:r>
            <a:r>
              <a:rPr dirty="0" sz="2150" spc="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highlighted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in</a:t>
            </a:r>
            <a:r>
              <a:rPr dirty="0" sz="2150" spc="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Arial"/>
                <a:cs typeface="Arial"/>
              </a:rPr>
              <a:t>PDF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Side-by-side</a:t>
            </a:r>
            <a:r>
              <a:rPr dirty="0" sz="2150" spc="4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view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Data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+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Document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Approve</a:t>
            </a:r>
            <a:r>
              <a:rPr dirty="0" sz="2150" spc="4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or</a:t>
            </a:r>
            <a:r>
              <a:rPr dirty="0" sz="2150" spc="5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Edit</a:t>
            </a:r>
            <a:r>
              <a:rPr dirty="0" sz="2150" spc="5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directly</a:t>
            </a:r>
            <a:r>
              <a:rPr dirty="0" sz="2150" spc="5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in</a:t>
            </a:r>
            <a:r>
              <a:rPr dirty="0" sz="2150" spc="5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Arial"/>
                <a:cs typeface="Arial"/>
              </a:rPr>
              <a:t>UI</a:t>
            </a:r>
            <a:endParaRPr sz="2150">
              <a:latin typeface="Arial"/>
              <a:cs typeface="Arial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Audit</a:t>
            </a:r>
            <a:r>
              <a:rPr dirty="0" sz="2150" spc="1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trail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All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changes</a:t>
            </a:r>
            <a:r>
              <a:rPr dirty="0" sz="2150" spc="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logged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09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857499"/>
            <a:ext cx="10696575" cy="2762250"/>
            <a:chOff x="752474" y="2857499"/>
            <a:chExt cx="10696575" cy="2762250"/>
          </a:xfrm>
        </p:grpSpPr>
        <p:sp>
          <p:nvSpPr>
            <p:cNvPr id="3" name="object 3"/>
            <p:cNvSpPr/>
            <p:nvPr/>
          </p:nvSpPr>
          <p:spPr>
            <a:xfrm>
              <a:off x="757237" y="2862262"/>
              <a:ext cx="10687050" cy="2752725"/>
            </a:xfrm>
            <a:custGeom>
              <a:avLst/>
              <a:gdLst/>
              <a:ahLst/>
              <a:cxnLst/>
              <a:rect l="l" t="t" r="r" b="b"/>
              <a:pathLst>
                <a:path w="10687050" h="2752725">
                  <a:moveTo>
                    <a:pt x="10638100" y="2752724"/>
                  </a:moveTo>
                  <a:lnTo>
                    <a:pt x="48947" y="2752724"/>
                  </a:lnTo>
                  <a:lnTo>
                    <a:pt x="45540" y="2752388"/>
                  </a:lnTo>
                  <a:lnTo>
                    <a:pt x="10739" y="2732302"/>
                  </a:lnTo>
                  <a:lnTo>
                    <a:pt x="0" y="2703777"/>
                  </a:lnTo>
                  <a:lnTo>
                    <a:pt x="0" y="27003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703777"/>
                  </a:lnTo>
                  <a:lnTo>
                    <a:pt x="10669272" y="2739812"/>
                  </a:lnTo>
                  <a:lnTo>
                    <a:pt x="10641507" y="2752388"/>
                  </a:lnTo>
                  <a:lnTo>
                    <a:pt x="10638100" y="27527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57237" y="2862262"/>
              <a:ext cx="10687050" cy="2752725"/>
            </a:xfrm>
            <a:custGeom>
              <a:avLst/>
              <a:gdLst/>
              <a:ahLst/>
              <a:cxnLst/>
              <a:rect l="l" t="t" r="r" b="b"/>
              <a:pathLst>
                <a:path w="10687050" h="2752725">
                  <a:moveTo>
                    <a:pt x="0" y="27003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700337"/>
                  </a:lnTo>
                  <a:lnTo>
                    <a:pt x="10687049" y="2703777"/>
                  </a:lnTo>
                  <a:lnTo>
                    <a:pt x="10686713" y="2707183"/>
                  </a:lnTo>
                  <a:lnTo>
                    <a:pt x="10666625" y="2741984"/>
                  </a:lnTo>
                  <a:lnTo>
                    <a:pt x="10634661" y="2752724"/>
                  </a:lnTo>
                  <a:lnTo>
                    <a:pt x="52387" y="2752724"/>
                  </a:lnTo>
                  <a:lnTo>
                    <a:pt x="15343" y="2737380"/>
                  </a:lnTo>
                  <a:lnTo>
                    <a:pt x="8828" y="2729441"/>
                  </a:lnTo>
                  <a:lnTo>
                    <a:pt x="6917" y="2726582"/>
                  </a:lnTo>
                  <a:lnTo>
                    <a:pt x="1006" y="2710557"/>
                  </a:lnTo>
                  <a:lnTo>
                    <a:pt x="335" y="2707183"/>
                  </a:lnTo>
                  <a:lnTo>
                    <a:pt x="0" y="2703777"/>
                  </a:lnTo>
                  <a:lnTo>
                    <a:pt x="0" y="270033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1212214"/>
            <a:ext cx="525716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Extensible</a:t>
            </a:r>
            <a:r>
              <a:rPr dirty="0" spc="80"/>
              <a:t> </a:t>
            </a:r>
            <a:r>
              <a:rPr dirty="0" spc="-10"/>
              <a:t>Orchestration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09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735012" y="2123757"/>
            <a:ext cx="4468495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Define</a:t>
            </a:r>
            <a:r>
              <a:rPr dirty="0" sz="2800" spc="2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Custom</a:t>
            </a:r>
            <a:r>
              <a:rPr dirty="0" sz="2800" spc="2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Workflows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2981483"/>
            <a:ext cx="6361430" cy="2469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2160"/>
              </a:lnSpc>
              <a:spcBef>
                <a:spcPts val="95"/>
              </a:spcBef>
            </a:pP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workflow</a:t>
            </a:r>
            <a:r>
              <a:rPr dirty="0" sz="1850" spc="-1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=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 spc="-50">
                <a:solidFill>
                  <a:srgbClr val="1F2328"/>
                </a:solidFill>
                <a:latin typeface="Menlo"/>
                <a:cs typeface="Menlo"/>
              </a:rPr>
              <a:t>(</a:t>
            </a:r>
            <a:endParaRPr sz="1850">
              <a:latin typeface="Menlo"/>
              <a:cs typeface="Menlo"/>
            </a:endParaRPr>
          </a:p>
          <a:p>
            <a:pPr marL="565150">
              <a:lnSpc>
                <a:spcPts val="2135"/>
              </a:lnSpc>
            </a:pPr>
            <a:r>
              <a:rPr dirty="0" sz="1850" spc="-10">
                <a:solidFill>
                  <a:srgbClr val="1F2328"/>
                </a:solidFill>
                <a:latin typeface="Menlo"/>
                <a:cs typeface="Menlo"/>
              </a:rPr>
              <a:t>PipelineBuilder()</a:t>
            </a:r>
            <a:endParaRPr sz="1850">
              <a:latin typeface="Menlo"/>
              <a:cs typeface="Menlo"/>
            </a:endParaRPr>
          </a:p>
          <a:p>
            <a:pPr marL="565150">
              <a:lnSpc>
                <a:spcPts val="2135"/>
              </a:lnSpc>
            </a:pP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.add_step(</a:t>
            </a:r>
            <a:r>
              <a:rPr dirty="0" sz="1850">
                <a:solidFill>
                  <a:srgbClr val="092F69"/>
                </a:solidFill>
                <a:latin typeface="Menlo"/>
                <a:cs typeface="Menlo"/>
              </a:rPr>
              <a:t>"ingest"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,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Menlo"/>
                <a:cs typeface="Menlo"/>
              </a:rPr>
              <a:t>IngestDocument())</a:t>
            </a:r>
            <a:endParaRPr sz="1850">
              <a:latin typeface="Menlo"/>
              <a:cs typeface="Menlo"/>
            </a:endParaRPr>
          </a:p>
          <a:p>
            <a:pPr marL="565150">
              <a:lnSpc>
                <a:spcPts val="2100"/>
              </a:lnSpc>
            </a:pP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.add_step(</a:t>
            </a:r>
            <a:r>
              <a:rPr dirty="0" sz="1850">
                <a:solidFill>
                  <a:srgbClr val="092F69"/>
                </a:solidFill>
                <a:latin typeface="Menlo"/>
                <a:cs typeface="Menlo"/>
              </a:rPr>
              <a:t>"classify"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,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Menlo"/>
                <a:cs typeface="Menlo"/>
              </a:rPr>
              <a:t>ClassifyDocument())</a:t>
            </a:r>
            <a:endParaRPr sz="1850">
              <a:latin typeface="Menlo"/>
              <a:cs typeface="Menlo"/>
            </a:endParaRPr>
          </a:p>
          <a:p>
            <a:pPr marL="565150">
              <a:lnSpc>
                <a:spcPts val="2140"/>
              </a:lnSpc>
            </a:pP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.add_step(</a:t>
            </a:r>
            <a:r>
              <a:rPr dirty="0" sz="1850">
                <a:solidFill>
                  <a:srgbClr val="092F69"/>
                </a:solidFill>
                <a:latin typeface="Menlo"/>
                <a:cs typeface="Menlo"/>
              </a:rPr>
              <a:t>"extract"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,</a:t>
            </a:r>
            <a:r>
              <a:rPr dirty="0" sz="1850" spc="-1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Menlo"/>
                <a:cs typeface="Menlo"/>
              </a:rPr>
              <a:t>ExtractEntities())</a:t>
            </a:r>
            <a:endParaRPr sz="1850">
              <a:latin typeface="Menlo"/>
              <a:cs typeface="Menlo"/>
            </a:endParaRPr>
          </a:p>
          <a:p>
            <a:pPr marL="565150">
              <a:lnSpc>
                <a:spcPts val="2140"/>
              </a:lnSpc>
            </a:pP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.add_step(</a:t>
            </a:r>
            <a:r>
              <a:rPr dirty="0" sz="1850">
                <a:solidFill>
                  <a:srgbClr val="092F69"/>
                </a:solidFill>
                <a:latin typeface="Menlo"/>
                <a:cs typeface="Menlo"/>
              </a:rPr>
              <a:t>"validate"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,</a:t>
            </a:r>
            <a:r>
              <a:rPr dirty="0" sz="1850" spc="-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Menlo"/>
                <a:cs typeface="Menlo"/>
              </a:rPr>
              <a:t>BusinessRules())</a:t>
            </a:r>
            <a:endParaRPr sz="1850">
              <a:latin typeface="Menlo"/>
              <a:cs typeface="Menlo"/>
            </a:endParaRPr>
          </a:p>
          <a:p>
            <a:pPr marL="565150">
              <a:lnSpc>
                <a:spcPts val="2100"/>
              </a:lnSpc>
            </a:pP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.add_step(</a:t>
            </a:r>
            <a:r>
              <a:rPr dirty="0" sz="1850">
                <a:solidFill>
                  <a:srgbClr val="092F69"/>
                </a:solidFill>
                <a:latin typeface="Menlo"/>
                <a:cs typeface="Menlo"/>
              </a:rPr>
              <a:t>"summarize"</a:t>
            </a:r>
            <a:r>
              <a:rPr dirty="0" sz="1850">
                <a:solidFill>
                  <a:srgbClr val="1F2328"/>
                </a:solidFill>
                <a:latin typeface="Menlo"/>
                <a:cs typeface="Menlo"/>
              </a:rPr>
              <a:t>,</a:t>
            </a:r>
            <a:r>
              <a:rPr dirty="0" sz="1850" spc="-15">
                <a:solidFill>
                  <a:srgbClr val="1F2328"/>
                </a:solidFill>
                <a:latin typeface="Menlo"/>
                <a:cs typeface="Menlo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Menlo"/>
                <a:cs typeface="Menlo"/>
              </a:rPr>
              <a:t>GenerateSummary())</a:t>
            </a:r>
            <a:endParaRPr sz="1850">
              <a:latin typeface="Menlo"/>
              <a:cs typeface="Menlo"/>
            </a:endParaRPr>
          </a:p>
          <a:p>
            <a:pPr marL="565150">
              <a:lnSpc>
                <a:spcPts val="2140"/>
              </a:lnSpc>
            </a:pPr>
            <a:r>
              <a:rPr dirty="0" sz="1850" spc="-10">
                <a:solidFill>
                  <a:srgbClr val="1F2328"/>
                </a:solidFill>
                <a:latin typeface="Menlo"/>
                <a:cs typeface="Menlo"/>
              </a:rPr>
              <a:t>.build()</a:t>
            </a:r>
            <a:endParaRPr sz="1850">
              <a:latin typeface="Menlo"/>
              <a:cs typeface="Menlo"/>
            </a:endParaRPr>
          </a:p>
          <a:p>
            <a:pPr>
              <a:lnSpc>
                <a:spcPts val="2200"/>
              </a:lnSpc>
            </a:pPr>
            <a:r>
              <a:rPr dirty="0" sz="1850" spc="-50">
                <a:solidFill>
                  <a:srgbClr val="1F2328"/>
                </a:solidFill>
                <a:latin typeface="Menlo"/>
                <a:cs typeface="Menlo"/>
              </a:rPr>
              <a:t>)</a:t>
            </a:r>
            <a:endParaRPr sz="1850">
              <a:latin typeface="Menlo"/>
              <a:cs typeface="Menl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09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52474" y="2809874"/>
          <a:ext cx="5962650" cy="2853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  <a:gridCol w="3133725"/>
              </a:tblGrid>
              <a:tr h="475615">
                <a:tc>
                  <a:txBody>
                    <a:bodyPr/>
                    <a:lstStyle/>
                    <a:p>
                      <a:pPr marL="80835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Capability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329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Retry</a:t>
                      </a:r>
                      <a:r>
                        <a:rPr dirty="0" sz="1850" spc="-3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Logic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Automatic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retry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backoff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Error</a:t>
                      </a:r>
                      <a:r>
                        <a:rPr dirty="0" sz="1850" spc="-4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Handling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Graceful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fallbacks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Audit</a:t>
                      </a:r>
                      <a:r>
                        <a:rPr dirty="0" sz="1850" spc="-2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Logging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Full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traceability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Async</a:t>
                      </a:r>
                      <a:r>
                        <a:rPr dirty="0" sz="1850" spc="-2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Execution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Non-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blocking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processing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r>
                        <a:rPr dirty="0" sz="1850" spc="-35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Discovery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Auto-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register new 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steps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1155064"/>
            <a:ext cx="552704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Orchestration</a:t>
            </a:r>
            <a:r>
              <a:rPr dirty="0" spc="100"/>
              <a:t> </a:t>
            </a:r>
            <a:r>
              <a:rPr dirty="0" spc="-10"/>
              <a:t>Capabilities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5012" y="2066607"/>
            <a:ext cx="2858770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Built-in</a:t>
            </a:r>
            <a:r>
              <a:rPr dirty="0" sz="2800" spc="2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Features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088389"/>
            <a:ext cx="449580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Architecture</a:t>
            </a:r>
            <a:r>
              <a:rPr dirty="0" spc="125"/>
              <a:t> </a:t>
            </a:r>
            <a:r>
              <a:rPr dirty="0" spc="-10"/>
              <a:t>Benefits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067049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962399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4448174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5343524"/>
            <a:ext cx="85725" cy="857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2152332"/>
            <a:ext cx="5137150" cy="338327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For</a:t>
            </a:r>
            <a:r>
              <a:rPr dirty="0" sz="2800" spc="1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Development</a:t>
            </a:r>
            <a:endParaRPr sz="2800">
              <a:latin typeface="Arial"/>
              <a:cs typeface="Arial"/>
            </a:endParaRPr>
          </a:p>
          <a:p>
            <a:pPr marL="564515" marR="97155">
              <a:lnSpc>
                <a:spcPct val="125000"/>
              </a:lnSpc>
              <a:spcBef>
                <a:spcPts val="1895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Monorepo</a:t>
            </a:r>
            <a:r>
              <a:rPr dirty="0" sz="2150" spc="6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Structure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7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Single</a:t>
            </a:r>
            <a:r>
              <a:rPr dirty="0" sz="2150" spc="7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source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of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truth</a:t>
            </a:r>
            <a:endParaRPr sz="2150">
              <a:latin typeface="Arial"/>
              <a:cs typeface="Arial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Typed</a:t>
            </a:r>
            <a:r>
              <a:rPr dirty="0" sz="2150" spc="-3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Interfaces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-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Python</a:t>
            </a:r>
            <a:r>
              <a:rPr dirty="0" sz="2150" spc="-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Protocols</a:t>
            </a:r>
            <a:endParaRPr sz="2150">
              <a:latin typeface="Arial"/>
              <a:cs typeface="Arial"/>
            </a:endParaRPr>
          </a:p>
          <a:p>
            <a:pPr marL="564515" marR="1208405">
              <a:lnSpc>
                <a:spcPct val="125000"/>
              </a:lnSpc>
              <a:spcBef>
                <a:spcPts val="600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Independent Testing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 </a:t>
            </a:r>
            <a:r>
              <a:rPr dirty="0" sz="2150" spc="-20">
                <a:solidFill>
                  <a:srgbClr val="1F2328"/>
                </a:solidFill>
                <a:latin typeface="Arial"/>
                <a:cs typeface="Arial"/>
              </a:rPr>
              <a:t>Per-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component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tests</a:t>
            </a:r>
            <a:endParaRPr sz="2150">
              <a:latin typeface="Arial"/>
              <a:cs typeface="Arial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Version Control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Schema</a:t>
            </a:r>
            <a:r>
              <a:rPr dirty="0" sz="2150" spc="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versioning</a:t>
            </a:r>
            <a:endParaRPr sz="21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2724" y="3067049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2724" y="3962399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2724" y="4857749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2724" y="5343524"/>
            <a:ext cx="85725" cy="857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221412" y="2152332"/>
            <a:ext cx="5061585" cy="338327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For</a:t>
            </a:r>
            <a:r>
              <a:rPr dirty="0" sz="2800" spc="1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Operations</a:t>
            </a:r>
            <a:endParaRPr sz="2800">
              <a:latin typeface="Arial"/>
              <a:cs typeface="Arial"/>
            </a:endParaRPr>
          </a:p>
          <a:p>
            <a:pPr marL="564515" marR="481330">
              <a:lnSpc>
                <a:spcPct val="125000"/>
              </a:lnSpc>
              <a:spcBef>
                <a:spcPts val="1895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Azure</a:t>
            </a:r>
            <a:r>
              <a:rPr dirty="0" sz="2150" spc="5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Native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6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Cosmos</a:t>
            </a:r>
            <a:r>
              <a:rPr dirty="0" sz="2150" spc="6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DB,</a:t>
            </a:r>
            <a:r>
              <a:rPr dirty="0" sz="2150" spc="6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Arial"/>
                <a:cs typeface="Arial"/>
              </a:rPr>
              <a:t>Blob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Storage,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OpenAI</a:t>
            </a:r>
            <a:endParaRPr sz="2150">
              <a:latin typeface="Arial"/>
              <a:cs typeface="Arial"/>
            </a:endParaRPr>
          </a:p>
          <a:p>
            <a:pPr marL="564515" marR="281940">
              <a:lnSpc>
                <a:spcPct val="127899"/>
              </a:lnSpc>
              <a:spcBef>
                <a:spcPts val="525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Observability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-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Trace</a:t>
            </a:r>
            <a:r>
              <a:rPr dirty="0" sz="2150" spc="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IDs,</a:t>
            </a:r>
            <a:r>
              <a:rPr dirty="0" sz="2150" spc="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metrics, </a:t>
            </a:r>
            <a:r>
              <a:rPr dirty="0" sz="2150" spc="-20">
                <a:solidFill>
                  <a:srgbClr val="1F2328"/>
                </a:solidFill>
                <a:latin typeface="Arial"/>
                <a:cs typeface="Arial"/>
              </a:rPr>
              <a:t>logs</a:t>
            </a:r>
            <a:endParaRPr sz="2150">
              <a:latin typeface="Arial"/>
              <a:cs typeface="Arial"/>
            </a:endParaRPr>
          </a:p>
          <a:p>
            <a:pPr marL="564515">
              <a:lnSpc>
                <a:spcPct val="100000"/>
              </a:lnSpc>
              <a:spcBef>
                <a:spcPts val="1170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Scalability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Stateless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components</a:t>
            </a:r>
            <a:endParaRPr sz="2150">
              <a:latin typeface="Arial"/>
              <a:cs typeface="Arial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Security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Managed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identities,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Arial"/>
                <a:cs typeface="Arial"/>
              </a:rPr>
              <a:t>RBAC</a:t>
            </a:r>
            <a:endParaRPr sz="215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09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09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031239"/>
            <a:ext cx="406082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Demo</a:t>
            </a:r>
            <a:r>
              <a:rPr dirty="0" spc="40"/>
              <a:t> </a:t>
            </a:r>
            <a:r>
              <a:rPr dirty="0" spc="-10"/>
              <a:t>Walkthrough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125"/>
              </a:spcBef>
            </a:pPr>
            <a:r>
              <a:rPr dirty="0"/>
              <a:t>Demo</a:t>
            </a:r>
            <a:r>
              <a:rPr dirty="0" spc="30"/>
              <a:t> </a:t>
            </a:r>
            <a:r>
              <a:rPr dirty="0"/>
              <a:t>1:</a:t>
            </a:r>
            <a:r>
              <a:rPr dirty="0" spc="35"/>
              <a:t> </a:t>
            </a:r>
            <a:r>
              <a:rPr dirty="0"/>
              <a:t>Self-Service</a:t>
            </a:r>
            <a:r>
              <a:rPr dirty="0" spc="35"/>
              <a:t> </a:t>
            </a:r>
            <a:r>
              <a:rPr dirty="0" spc="-10"/>
              <a:t>Onboarding</a:t>
            </a:r>
          </a:p>
          <a:p>
            <a:pPr marL="33020">
              <a:lnSpc>
                <a:spcPct val="100000"/>
              </a:lnSpc>
              <a:spcBef>
                <a:spcPts val="2465"/>
              </a:spcBef>
            </a:pP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Upload →</a:t>
            </a:r>
            <a:r>
              <a:rPr dirty="0" sz="2150" spc="5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Configure</a:t>
            </a:r>
            <a:r>
              <a:rPr dirty="0" sz="2150" spc="-5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→</a:t>
            </a:r>
            <a:r>
              <a:rPr dirty="0" sz="2150" spc="-35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25" b="0">
                <a:solidFill>
                  <a:srgbClr val="1F2328"/>
                </a:solidFill>
                <a:latin typeface="Arial"/>
                <a:cs typeface="Arial"/>
              </a:rPr>
              <a:t>Test</a:t>
            </a: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 →</a:t>
            </a:r>
            <a:r>
              <a:rPr dirty="0" sz="2150" spc="5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Evaluate</a:t>
            </a:r>
            <a:r>
              <a:rPr dirty="0" sz="2150" spc="-5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→</a:t>
            </a:r>
            <a:r>
              <a:rPr dirty="0" sz="2150" spc="5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0">
                <a:solidFill>
                  <a:srgbClr val="1F2328"/>
                </a:solidFill>
                <a:latin typeface="Arial"/>
                <a:cs typeface="Arial"/>
              </a:rPr>
              <a:t>Deploy</a:t>
            </a:r>
            <a:endParaRPr sz="215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2245"/>
              </a:spcBef>
            </a:pPr>
            <a:r>
              <a:rPr dirty="0"/>
              <a:t>Demo</a:t>
            </a:r>
            <a:r>
              <a:rPr dirty="0" spc="25"/>
              <a:t> </a:t>
            </a:r>
            <a:r>
              <a:rPr dirty="0"/>
              <a:t>2:</a:t>
            </a:r>
            <a:r>
              <a:rPr dirty="0" spc="25"/>
              <a:t> </a:t>
            </a:r>
            <a:r>
              <a:rPr dirty="0"/>
              <a:t>Extraction</a:t>
            </a:r>
            <a:r>
              <a:rPr dirty="0" spc="25"/>
              <a:t> </a:t>
            </a:r>
            <a:r>
              <a:rPr dirty="0" spc="-10"/>
              <a:t>Results</a:t>
            </a:r>
          </a:p>
          <a:p>
            <a:pPr marL="33020">
              <a:lnSpc>
                <a:spcPct val="100000"/>
              </a:lnSpc>
              <a:spcBef>
                <a:spcPts val="2465"/>
              </a:spcBef>
            </a:pP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Field</a:t>
            </a:r>
            <a:r>
              <a:rPr dirty="0" sz="2150" spc="50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scores</a:t>
            </a:r>
            <a:r>
              <a:rPr dirty="0" sz="2150" spc="50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→</a:t>
            </a:r>
            <a:r>
              <a:rPr dirty="0" sz="2150" spc="50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Citation</a:t>
            </a:r>
            <a:r>
              <a:rPr dirty="0" sz="2150" spc="50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links</a:t>
            </a:r>
            <a:r>
              <a:rPr dirty="0" sz="2150" spc="50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→</a:t>
            </a:r>
            <a:r>
              <a:rPr dirty="0" sz="2150" spc="45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PDF</a:t>
            </a:r>
            <a:r>
              <a:rPr dirty="0" sz="2150" spc="50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0">
                <a:solidFill>
                  <a:srgbClr val="1F2328"/>
                </a:solidFill>
                <a:latin typeface="Arial"/>
                <a:cs typeface="Arial"/>
              </a:rPr>
              <a:t>overlay</a:t>
            </a:r>
            <a:endParaRPr sz="215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2245"/>
              </a:spcBef>
            </a:pPr>
            <a:r>
              <a:rPr dirty="0"/>
              <a:t>Demo</a:t>
            </a:r>
            <a:r>
              <a:rPr dirty="0" spc="20"/>
              <a:t> </a:t>
            </a:r>
            <a:r>
              <a:rPr dirty="0"/>
              <a:t>3:</a:t>
            </a:r>
            <a:r>
              <a:rPr dirty="0" spc="20"/>
              <a:t> </a:t>
            </a:r>
            <a:r>
              <a:rPr dirty="0"/>
              <a:t>Human</a:t>
            </a:r>
            <a:r>
              <a:rPr dirty="0" spc="20"/>
              <a:t> </a:t>
            </a:r>
            <a:r>
              <a:rPr dirty="0" spc="-10"/>
              <a:t>Review</a:t>
            </a:r>
          </a:p>
          <a:p>
            <a:pPr marL="33020">
              <a:lnSpc>
                <a:spcPct val="100000"/>
              </a:lnSpc>
              <a:spcBef>
                <a:spcPts val="2465"/>
              </a:spcBef>
            </a:pP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Flagged</a:t>
            </a:r>
            <a:r>
              <a:rPr dirty="0" sz="2150" spc="5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items</a:t>
            </a:r>
            <a:r>
              <a:rPr dirty="0" sz="2150" spc="5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→</a:t>
            </a:r>
            <a:r>
              <a:rPr dirty="0" sz="2150" spc="5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Verify</a:t>
            </a:r>
            <a:r>
              <a:rPr dirty="0" sz="2150" spc="10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0">
                <a:solidFill>
                  <a:srgbClr val="1F2328"/>
                </a:solidFill>
                <a:latin typeface="Arial"/>
                <a:cs typeface="Arial"/>
              </a:rPr>
              <a:t>→</a:t>
            </a:r>
            <a:r>
              <a:rPr dirty="0" sz="2150" spc="-120" b="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0">
                <a:solidFill>
                  <a:srgbClr val="1F2328"/>
                </a:solidFill>
                <a:latin typeface="Arial"/>
                <a:cs typeface="Arial"/>
              </a:rPr>
              <a:t>Approve/Edit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09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52474" y="2371724"/>
          <a:ext cx="10772775" cy="3558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9875"/>
                <a:gridCol w="3962400"/>
                <a:gridCol w="3914775"/>
              </a:tblGrid>
              <a:tr h="475615">
                <a:tc>
                  <a:txBody>
                    <a:bodyPr/>
                    <a:lstStyle/>
                    <a:p>
                      <a:pPr marL="8737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Use</a:t>
                      </a:r>
                      <a:r>
                        <a:rPr dirty="0" sz="1850" spc="-2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Case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266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Document</a:t>
                      </a:r>
                      <a:r>
                        <a:rPr dirty="0" sz="1850" spc="-35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Types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Key</a:t>
                      </a:r>
                      <a:r>
                        <a:rPr dirty="0" sz="1850" spc="-2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Fields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828040">
                <a:tc>
                  <a:txBody>
                    <a:bodyPr/>
                    <a:lstStyle/>
                    <a:p>
                      <a:pPr marL="123825" marR="1229995">
                        <a:lnSpc>
                          <a:spcPct val="125000"/>
                        </a:lnSpc>
                        <a:spcBef>
                          <a:spcPts val="30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Insurance Underwriting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193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Applications,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Medical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Reports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574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 marR="1158875">
                        <a:lnSpc>
                          <a:spcPct val="125000"/>
                        </a:lnSpc>
                        <a:spcBef>
                          <a:spcPts val="30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Applicant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info,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Coverage, Conditions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Claims</a:t>
                      </a:r>
                      <a:r>
                        <a:rPr dirty="0" sz="1850" spc="-35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Processing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Claim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Forms,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Invoices,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Reports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Claim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details,</a:t>
                      </a:r>
                      <a:r>
                        <a:rPr dirty="0" sz="1850" spc="-1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Amounts,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Dates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82804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193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Credit</a:t>
                      </a:r>
                      <a:r>
                        <a:rPr dirty="0" sz="1850" spc="-3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Insurance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574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 marR="875665">
                        <a:lnSpc>
                          <a:spcPct val="125000"/>
                        </a:lnSpc>
                        <a:spcBef>
                          <a:spcPts val="30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Financial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Statements,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Credit Reports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93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Exposures,</a:t>
                      </a:r>
                      <a:r>
                        <a:rPr dirty="0" sz="1850" spc="-4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Ratings,</a:t>
                      </a:r>
                      <a:r>
                        <a:rPr dirty="0" sz="1850" spc="-6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Terms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574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Trade</a:t>
                      </a:r>
                      <a:r>
                        <a:rPr dirty="0" sz="1850" spc="-12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Finance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Letters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Credit,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Bills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Lading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Parties,</a:t>
                      </a:r>
                      <a:r>
                        <a:rPr dirty="0" sz="1850" spc="-1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Amounts,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Shipping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details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KYC/AML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ID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Documents,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Utility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Bills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Identity</a:t>
                      </a:r>
                      <a:r>
                        <a:rPr dirty="0" sz="1850" spc="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verification,</a:t>
                      </a:r>
                      <a:r>
                        <a:rPr dirty="0" sz="1850" spc="-9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r>
                        <a:rPr dirty="0" sz="1850" spc="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proof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Beyond</a:t>
            </a:r>
            <a:r>
              <a:rPr dirty="0" spc="70"/>
              <a:t> </a:t>
            </a:r>
            <a:r>
              <a:rPr dirty="0"/>
              <a:t>Insurance</a:t>
            </a:r>
            <a:r>
              <a:rPr dirty="0" spc="85"/>
              <a:t> </a:t>
            </a:r>
            <a:r>
              <a:rPr dirty="0" spc="-10"/>
              <a:t>Underwriting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5012" y="1628457"/>
            <a:ext cx="5978525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The</a:t>
            </a:r>
            <a:r>
              <a:rPr dirty="0" sz="2800" spc="2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Platform</a:t>
            </a:r>
            <a:r>
              <a:rPr dirty="0" sz="2800" spc="2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is</a:t>
            </a:r>
            <a:r>
              <a:rPr dirty="0" sz="2800" spc="2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Use-Case</a:t>
            </a:r>
            <a:r>
              <a:rPr dirty="0" sz="2800" spc="-8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Agnostic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5012" y="6102349"/>
            <a:ext cx="5197475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Same</a:t>
            </a:r>
            <a:r>
              <a:rPr dirty="0" sz="2150" spc="5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platform,</a:t>
            </a:r>
            <a:r>
              <a:rPr dirty="0" sz="2150" spc="6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different</a:t>
            </a:r>
            <a:r>
              <a:rPr dirty="0" sz="2150" spc="6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F2328"/>
                </a:solidFill>
                <a:latin typeface="Arial"/>
                <a:cs typeface="Arial"/>
              </a:rPr>
              <a:t>configurations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09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52474" y="3047999"/>
          <a:ext cx="5238750" cy="2378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4175"/>
                <a:gridCol w="2228850"/>
              </a:tblGrid>
              <a:tr h="475615">
                <a:tc>
                  <a:txBody>
                    <a:bodyPr/>
                    <a:lstStyle/>
                    <a:p>
                      <a:pPr marL="899794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Capability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Multi-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language</a:t>
                      </a:r>
                      <a:r>
                        <a:rPr dirty="0" sz="1850" spc="4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(Chinese)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Architecture</a:t>
                      </a:r>
                      <a:r>
                        <a:rPr dirty="0" sz="1850" spc="-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ready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Multi-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document</a:t>
                      </a:r>
                      <a:r>
                        <a:rPr dirty="0" sz="1850" spc="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scenarios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Designed</a:t>
                      </a:r>
                      <a:r>
                        <a:rPr dirty="0" sz="1850" spc="-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for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Real-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1850" spc="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processing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Event-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driven</a:t>
                      </a:r>
                      <a:r>
                        <a:rPr dirty="0" sz="1850" spc="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ready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Legacy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integration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API-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first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design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1393189"/>
            <a:ext cx="628840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Roadmap:</a:t>
            </a:r>
            <a:r>
              <a:rPr dirty="0" spc="40"/>
              <a:t> </a:t>
            </a:r>
            <a:r>
              <a:rPr dirty="0"/>
              <a:t>Designed</a:t>
            </a:r>
            <a:r>
              <a:rPr dirty="0" spc="55"/>
              <a:t> </a:t>
            </a:r>
            <a:r>
              <a:rPr dirty="0"/>
              <a:t>for</a:t>
            </a:r>
            <a:r>
              <a:rPr dirty="0" spc="50"/>
              <a:t> </a:t>
            </a:r>
            <a:r>
              <a:rPr dirty="0" spc="-10"/>
              <a:t>Scale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5012" y="2304732"/>
            <a:ext cx="5393055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Ready</a:t>
            </a:r>
            <a:r>
              <a:rPr dirty="0" sz="2800" spc="1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for</a:t>
            </a:r>
            <a:r>
              <a:rPr dirty="0" sz="2800" spc="10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Future</a:t>
            </a:r>
            <a:r>
              <a:rPr dirty="0" sz="2800" spc="1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Requirements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421764"/>
            <a:ext cx="690181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Roadmap:</a:t>
            </a:r>
            <a:r>
              <a:rPr dirty="0" spc="45"/>
              <a:t> </a:t>
            </a:r>
            <a:r>
              <a:rPr dirty="0"/>
              <a:t>Pluggable</a:t>
            </a:r>
            <a:r>
              <a:rPr dirty="0" spc="45"/>
              <a:t> </a:t>
            </a:r>
            <a:r>
              <a:rPr dirty="0" spc="-10"/>
              <a:t>Extensions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238499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724274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4200524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4686299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5172074"/>
            <a:ext cx="85725" cy="857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323782"/>
            <a:ext cx="6273800" cy="30403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Easy</a:t>
            </a:r>
            <a:r>
              <a:rPr dirty="0" sz="2800" spc="1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to</a:t>
            </a:r>
            <a:r>
              <a:rPr dirty="0" sz="2800" spc="-9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25" b="1">
                <a:solidFill>
                  <a:srgbClr val="DA0011"/>
                </a:solidFill>
                <a:latin typeface="Arial"/>
                <a:cs typeface="Arial"/>
              </a:rPr>
              <a:t>Add</a:t>
            </a:r>
            <a:endParaRPr sz="2800">
              <a:latin typeface="Arial"/>
              <a:cs typeface="Arial"/>
            </a:endParaRPr>
          </a:p>
          <a:p>
            <a:pPr marL="564515" marR="5080">
              <a:lnSpc>
                <a:spcPct val="147500"/>
              </a:lnSpc>
              <a:spcBef>
                <a:spcPts val="1315"/>
              </a:spcBef>
            </a:pP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New</a:t>
            </a:r>
            <a:r>
              <a:rPr dirty="0" sz="2150" spc="-4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AI</a:t>
            </a:r>
            <a:r>
              <a:rPr dirty="0" sz="2150" spc="4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Models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-8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As</a:t>
            </a:r>
            <a:r>
              <a:rPr dirty="0" sz="2150" spc="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they</a:t>
            </a:r>
            <a:r>
              <a:rPr dirty="0" sz="2150" spc="5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emerge</a:t>
            </a:r>
            <a:r>
              <a:rPr dirty="0" sz="2150" spc="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Arial"/>
                <a:cs typeface="Arial"/>
              </a:rPr>
              <a:t>(GPT-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5,</a:t>
            </a:r>
            <a:r>
              <a:rPr dirty="0" sz="2150" spc="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etc.)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Business</a:t>
            </a:r>
            <a:r>
              <a:rPr dirty="0" sz="2150" spc="3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Rules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Custom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validation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engines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Industry</a:t>
            </a:r>
            <a:r>
              <a:rPr dirty="0" sz="2150" spc="7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Validators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7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Domain-specific</a:t>
            </a:r>
            <a:r>
              <a:rPr dirty="0" sz="2150" spc="7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checks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Data</a:t>
            </a:r>
            <a:r>
              <a:rPr dirty="0" sz="2150" spc="5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Enrichment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External</a:t>
            </a:r>
            <a:r>
              <a:rPr dirty="0" sz="2150" spc="-8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API</a:t>
            </a:r>
            <a:r>
              <a:rPr dirty="0" sz="2150" spc="5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integration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Fraud</a:t>
            </a:r>
            <a:r>
              <a:rPr dirty="0" sz="2150" spc="3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1F2328"/>
                </a:solidFill>
                <a:latin typeface="Arial"/>
                <a:cs typeface="Arial"/>
              </a:rPr>
              <a:t>Detection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:</a:t>
            </a:r>
            <a:r>
              <a:rPr dirty="0" sz="2150" spc="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Pattern</a:t>
            </a:r>
            <a:r>
              <a:rPr dirty="0" sz="2150" spc="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recognition</a:t>
            </a:r>
            <a:r>
              <a:rPr dirty="0" sz="2150" spc="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modules</a:t>
            </a:r>
            <a:endParaRPr sz="21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09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09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52474" y="2181224"/>
          <a:ext cx="7667625" cy="3319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8950"/>
                <a:gridCol w="4552950"/>
              </a:tblGrid>
              <a:tr h="4660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Business</a:t>
                      </a:r>
                      <a:r>
                        <a:rPr dirty="0" sz="1850" spc="-2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Self-</a:t>
                      </a: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r>
                        <a:rPr dirty="0" sz="1850" spc="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Onboarding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Days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Hours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document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types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AI</a:t>
                      </a:r>
                      <a:r>
                        <a:rPr dirty="0" sz="1850" spc="-2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Evaluation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Quality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assurance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without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labeled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data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Pluggable</a:t>
                      </a:r>
                      <a:r>
                        <a:rPr dirty="0" sz="1850" spc="-85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Architecture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Future-proof,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swap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components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easily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Human-</a:t>
                      </a: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in-the-</a:t>
                      </a:r>
                      <a:r>
                        <a:rPr dirty="0" sz="1850" spc="-2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Loop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Smart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routing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reduces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review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burden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Extensible</a:t>
                      </a:r>
                      <a:r>
                        <a:rPr dirty="0" sz="1850" spc="-2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Orchestration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Adapt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workflows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any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business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process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Citation</a:t>
                      </a:r>
                      <a:r>
                        <a:rPr dirty="0" sz="1850" spc="-2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Linking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Visual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verification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extracted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data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1316989"/>
            <a:ext cx="611695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Key</a:t>
            </a:r>
            <a:r>
              <a:rPr dirty="0" spc="100"/>
              <a:t> </a:t>
            </a:r>
            <a:r>
              <a:rPr dirty="0"/>
              <a:t>Differentiators</a:t>
            </a:r>
            <a:r>
              <a:rPr dirty="0" spc="100"/>
              <a:t> </a:t>
            </a:r>
            <a:r>
              <a:rPr dirty="0" spc="-10"/>
              <a:t>Summary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09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35012" y="3581082"/>
            <a:ext cx="3597910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Ready</a:t>
            </a:r>
            <a:r>
              <a:rPr dirty="0" sz="28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8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Live</a:t>
            </a:r>
            <a:r>
              <a:rPr dirty="0" sz="28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Arial"/>
                <a:cs typeface="Arial"/>
              </a:rPr>
              <a:t>Demo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09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52474" y="1943099"/>
          <a:ext cx="8715375" cy="3795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1175"/>
                <a:gridCol w="6848475"/>
              </a:tblGrid>
              <a:tr h="475615">
                <a:tc>
                  <a:txBody>
                    <a:bodyPr/>
                    <a:lstStyle/>
                    <a:p>
                      <a:pPr marL="5734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Layer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660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Frontend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Vue</a:t>
                      </a:r>
                      <a:r>
                        <a:rPr dirty="0" sz="1850" spc="-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3,</a:t>
                      </a:r>
                      <a:r>
                        <a:rPr dirty="0" sz="1850" spc="-4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Vuetify,</a:t>
                      </a:r>
                      <a:r>
                        <a:rPr dirty="0" sz="1850" spc="-7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TypeScript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Backend</a:t>
                      </a:r>
                      <a:r>
                        <a:rPr dirty="0" sz="1850" spc="-85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5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API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FastAPI,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Python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3.11+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AI/ML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OpenAI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(GPT-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4o,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GPT-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4V),</a:t>
                      </a:r>
                      <a:r>
                        <a:rPr dirty="0" sz="1850" spc="-1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Document</a:t>
                      </a:r>
                      <a:r>
                        <a:rPr dirty="0" sz="1850" spc="-1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Intelligence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Database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dirty="0" sz="1850" spc="-3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Cosmos</a:t>
                      </a:r>
                      <a:r>
                        <a:rPr dirty="0" sz="1850" spc="-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DB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Storage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Blob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Storage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Infrastructure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dirty="0" sz="1850" spc="-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Bicep</a:t>
                      </a:r>
                      <a:r>
                        <a:rPr dirty="0" sz="1850" spc="-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(IaC)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Testing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Pytest,</a:t>
                      </a:r>
                      <a:r>
                        <a:rPr dirty="0" sz="1850" spc="-4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Playwright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1078864"/>
            <a:ext cx="561721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Appendix:</a:t>
            </a:r>
            <a:r>
              <a:rPr dirty="0" spc="-60"/>
              <a:t> </a:t>
            </a:r>
            <a:r>
              <a:rPr dirty="0"/>
              <a:t>Technical</a:t>
            </a:r>
            <a:r>
              <a:rPr dirty="0" spc="-55"/>
              <a:t> </a:t>
            </a:r>
            <a:r>
              <a:rPr dirty="0" spc="-10"/>
              <a:t>Stack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Appendix:</a:t>
            </a:r>
            <a:r>
              <a:rPr dirty="0" spc="70"/>
              <a:t> </a:t>
            </a:r>
            <a:r>
              <a:rPr dirty="0"/>
              <a:t>Evaluation</a:t>
            </a:r>
            <a:r>
              <a:rPr dirty="0" spc="70"/>
              <a:t> </a:t>
            </a:r>
            <a:r>
              <a:rPr dirty="0"/>
              <a:t>Metrics</a:t>
            </a:r>
            <a:r>
              <a:rPr dirty="0" spc="65"/>
              <a:t> </a:t>
            </a:r>
            <a:r>
              <a:rPr dirty="0" spc="-10"/>
              <a:t>Detail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2543174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028949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505199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3990974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5343524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5829299"/>
            <a:ext cx="85725" cy="857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5012" y="1628457"/>
            <a:ext cx="6420485" cy="43929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Correctness</a:t>
            </a:r>
            <a:r>
              <a:rPr dirty="0" sz="2800" spc="2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Evaluator</a:t>
            </a:r>
            <a:endParaRPr sz="2800">
              <a:latin typeface="Arial"/>
              <a:cs typeface="Arial"/>
            </a:endParaRPr>
          </a:p>
          <a:p>
            <a:pPr marL="564515" marR="703580">
              <a:lnSpc>
                <a:spcPct val="148300"/>
              </a:lnSpc>
              <a:spcBef>
                <a:spcPts val="1295"/>
              </a:spcBef>
            </a:pP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Tokenizes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extracted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value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and source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Arial"/>
                <a:cs typeface="Arial"/>
              </a:rPr>
              <a:t>text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Measures</a:t>
            </a:r>
            <a:r>
              <a:rPr dirty="0" sz="2150" spc="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token-level</a:t>
            </a:r>
            <a:r>
              <a:rPr dirty="0" sz="2150" spc="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coverage</a:t>
            </a:r>
            <a:endParaRPr sz="2150">
              <a:latin typeface="Arial"/>
              <a:cs typeface="Arial"/>
            </a:endParaRPr>
          </a:p>
          <a:p>
            <a:pPr marL="564515" marR="5080">
              <a:lnSpc>
                <a:spcPts val="3829"/>
              </a:lnSpc>
              <a:spcBef>
                <a:spcPts val="254"/>
              </a:spcBef>
            </a:pP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Score</a:t>
            </a:r>
            <a:r>
              <a:rPr dirty="0" sz="215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=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matched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tokens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/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total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extracted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tokens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100%</a:t>
            </a:r>
            <a:r>
              <a:rPr dirty="0" sz="2150" spc="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=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all</a:t>
            </a:r>
            <a:r>
              <a:rPr dirty="0" sz="2150" spc="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extracted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tokens</a:t>
            </a:r>
            <a:r>
              <a:rPr dirty="0" sz="2150" spc="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found</a:t>
            </a:r>
            <a:r>
              <a:rPr dirty="0" sz="215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in</a:t>
            </a:r>
            <a:r>
              <a:rPr dirty="0" sz="2150" spc="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source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2800" b="1">
                <a:solidFill>
                  <a:srgbClr val="DA0011"/>
                </a:solidFill>
                <a:latin typeface="Arial"/>
                <a:cs typeface="Arial"/>
              </a:rPr>
              <a:t>Completeness</a:t>
            </a:r>
            <a:r>
              <a:rPr dirty="0" sz="2800" spc="35" b="1">
                <a:solidFill>
                  <a:srgbClr val="DA00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DA0011"/>
                </a:solidFill>
                <a:latin typeface="Arial"/>
                <a:cs typeface="Arial"/>
              </a:rPr>
              <a:t>Evaluator</a:t>
            </a:r>
            <a:endParaRPr sz="2800">
              <a:latin typeface="Arial"/>
              <a:cs typeface="Arial"/>
            </a:endParaRPr>
          </a:p>
          <a:p>
            <a:pPr marL="564515" marR="949960">
              <a:lnSpc>
                <a:spcPct val="148300"/>
              </a:lnSpc>
              <a:spcBef>
                <a:spcPts val="1220"/>
              </a:spcBef>
            </a:pP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Uses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30">
                <a:solidFill>
                  <a:srgbClr val="1F2328"/>
                </a:solidFill>
                <a:latin typeface="Arial"/>
                <a:cs typeface="Arial"/>
              </a:rPr>
              <a:t>GPT-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4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to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assess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extraction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quality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Checks</a:t>
            </a:r>
            <a:r>
              <a:rPr dirty="0" sz="2150" spc="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if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full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context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was</a:t>
            </a:r>
            <a:r>
              <a:rPr dirty="0" sz="2150" spc="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captured</a:t>
            </a:r>
            <a:endParaRPr sz="215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4" y="6315074"/>
            <a:ext cx="85725" cy="857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87462" y="6005194"/>
            <a:ext cx="3679825" cy="977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5300"/>
              </a:lnSpc>
              <a:spcBef>
                <a:spcPts val="95"/>
              </a:spcBef>
            </a:pP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Identifies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missing</a:t>
            </a:r>
            <a:r>
              <a:rPr dirty="0" sz="2150" spc="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information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Provides</a:t>
            </a:r>
            <a:r>
              <a:rPr dirty="0" sz="215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reasoning</a:t>
            </a:r>
            <a:r>
              <a:rPr dirty="0" sz="2150" spc="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1F2328"/>
                </a:solidFill>
                <a:latin typeface="Arial"/>
                <a:cs typeface="Arial"/>
              </a:rPr>
              <a:t>for</a:t>
            </a:r>
            <a:r>
              <a:rPr dirty="0" sz="2150" spc="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Arial"/>
                <a:cs typeface="Arial"/>
              </a:rPr>
              <a:t>scores</a:t>
            </a:r>
            <a:endParaRPr sz="215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6324" y="6791324"/>
            <a:ext cx="85724" cy="6667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639201" y="6321424"/>
            <a:ext cx="280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777777"/>
                </a:solidFill>
                <a:latin typeface="Arial"/>
                <a:cs typeface="Arial"/>
              </a:rPr>
              <a:t>23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HSBC IWPB Engineering Team</dc:creator>
  <dc:subject>Executive presentation showcasing the Document Intelligence Platform capabilities for insurance underwriting automation</dc:subject>
  <dc:title>HSBC Document Intelligence Platform</dc:title>
  <dcterms:created xsi:type="dcterms:W3CDTF">2026-01-16T03:45:19Z</dcterms:created>
  <dcterms:modified xsi:type="dcterms:W3CDTF">2026-01-16T03:45:19Z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2026-01-13T00:00:00Z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2026-01-16T00:00:00Z</vt:filetime>
  </property>
  <property fmtid="{D5CDD505-2E9C-101B-9397-08002B2CF9AE}" pid="5" name="Producer">
    <vt:lpwstr>Created by Marp</vt:lpwstr>
  </property>
</Properties>
</file>